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stock market's complexity and volatility pose significant challenges for traditional prediction methods. As a result, financial institutions and investors face difficulties in managing risk exposure. This research aims to address this issue by comparing Time Series Analysis with Deep Learning augmented by intervention analysis, with the goal of improving stock price prediction.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methodology involves collecting a dataset of Tesla and IBM stocks, which is then divided into training and testing groups. The proposed approach uses six different models, including Recurrent Neural Network (RNN), to predict stock values. The models are evaluated using metrics such as Mean Square Error (MSE), Root Mean Square Error (RMSE), and Mean Absolute Error (MAE).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study found that LSTM was the most accurate model, while PPO outperformed other reinforcement learning methods. The COVID-19 outbreak had a significant impact on stock prices, with varying effects across different countries. These findings highlight the importance of considering global crises in financial market analysis.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Line chart of Predicted vs Actual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proposed approach uses a combination of machine learning models and intervention analysis to improve forecasting accuracy. The dataset is divided into training and testing groups using an 80/20 split. The evaluation metrics used are MSE, RMSE, and MAE, which measure the difference between predicted and actual values.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proposed approach can be applied to various stock markets, including IBM, by using a combination of Time Series Analysis and Deep Learning. The use of intervention analysis can help capture unexpected market dynamics, leading to more accurate predictions. The framework can be made more generalizable to other markets by adopting advanced recurrent neural network topologies, such as LSTM networks.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speaker should highlight the complexity and unpredictability of the stock market, making it challenging to develop accurate predictive models. The limitations of classical Time Series Analysis techniques should be emphasized, as well as the need for new methods like intervention analysis and Deep Learning to improve prediction capacities.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authors propose to build upon their previous work by integrating the Q Network with intervention-awareness. This will enable their models to capture sudden changes influenced by external factors. By leveraging the RNN model's ability to handle nonlinear dynamics, they hope to improve the accuracy of their predictions. The researchers also plan to explore the use of historical trends and consecutive patterns to further enhance their models'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study demonstrates the effectiveness of Deep Learning models, particularly RNN, in predicting stock prices. The results show that RNN outperformed other models on MSE for Tesla and IBM data. The study also aimed to determine the parameters for the ARIMA model and evaluate its performance, contributing to the development of more accurate stock price prediction models.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Rectangle 1"/>
          <p:cNvSpPr/>
          <p:nvPr/>
        </p:nvSpPr>
        <p:spPr>
          <a:xfrm>
            <a:off x="640080" y="1874519"/>
            <a:ext cx="1005840" cy="73152"/>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103120"/>
            <a:ext cx="9997135" cy="2194560"/>
          </a:xfrm>
          <a:prstGeom prst="rect">
            <a:avLst/>
          </a:prstGeom>
          <a:noFill/>
        </p:spPr>
        <p:txBody>
          <a:bodyPr wrap="square" anchor="t" lIns="0" rIns="0" tIns="0" bIns="0">
            <a:spAutoFit/>
          </a:bodyPr>
          <a:lstStyle/>
          <a:p>
            <a:r>
              <a:rPr sz="3200" b="1" i="0">
                <a:solidFill>
                  <a:srgbClr val="FFFFFF"/>
                </a:solidFill>
                <a:latin typeface="Calibri"/>
              </a:rPr>
              <a:t>Intervention Analysis for Predicting Stock Market using Deep Learning Algorithms and Time Series Analysis</a:t>
            </a:r>
          </a:p>
        </p:txBody>
      </p:sp>
      <p:sp>
        <p:nvSpPr>
          <p:cNvPr id="4" name="TextBox 3"/>
          <p:cNvSpPr txBox="1"/>
          <p:nvPr/>
        </p:nvSpPr>
        <p:spPr>
          <a:xfrm>
            <a:off x="640080" y="4434840"/>
            <a:ext cx="9082735" cy="914400"/>
          </a:xfrm>
          <a:prstGeom prst="rect">
            <a:avLst/>
          </a:prstGeom>
          <a:noFill/>
        </p:spPr>
        <p:txBody>
          <a:bodyPr wrap="square" anchor="t" lIns="0" rIns="0" tIns="0" bIns="0">
            <a:spAutoFit/>
          </a:bodyPr>
          <a:lstStyle/>
          <a:p>
            <a:r>
              <a:rPr sz="2000" b="0" i="0">
                <a:solidFill>
                  <a:srgbClr val="B8E3E9"/>
                </a:solidFill>
                <a:latin typeface="Calibri"/>
              </a:rPr>
              <a:t>This paper compares Time Series Analysis and Deep Learning for stock market prediction.</a:t>
            </a:r>
          </a:p>
        </p:txBody>
      </p:sp>
      <p:sp>
        <p:nvSpPr>
          <p:cNvPr id="5" name="TextBox 4"/>
          <p:cNvSpPr txBox="1"/>
          <p:nvPr/>
        </p:nvSpPr>
        <p:spPr>
          <a:xfrm>
            <a:off x="640080" y="6126480"/>
            <a:ext cx="8229600" cy="320040"/>
          </a:xfrm>
          <a:prstGeom prst="rect">
            <a:avLst/>
          </a:prstGeom>
          <a:noFill/>
        </p:spPr>
        <p:txBody>
          <a:bodyPr wrap="square" anchor="t" lIns="0" rIns="0" tIns="0" bIns="0">
            <a:spAutoFit/>
          </a:bodyPr>
          <a:lstStyle/>
          <a:p>
            <a:r>
              <a:rPr sz="1200" b="0" i="0">
                <a:solidFill>
                  <a:srgbClr val="9AA5B8"/>
                </a:solidFill>
                <a:latin typeface="Calibri"/>
              </a:rPr>
              <a:t>Automated summary of Stock_Market_Prediction.pdf</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777240"/>
          </a:xfrm>
          <a:prstGeom prst="rect">
            <a:avLst/>
          </a:prstGeom>
          <a:noFill/>
        </p:spPr>
        <p:txBody>
          <a:bodyPr wrap="square" anchor="ctr" lIns="0" rIns="0" tIns="0" bIns="0">
            <a:spAutoFit/>
          </a:bodyPr>
          <a:lstStyle/>
          <a:p>
            <a:r>
              <a:rPr sz="3400" b="1" i="0">
                <a:solidFill>
                  <a:srgbClr val="14213D"/>
                </a:solidFill>
                <a:latin typeface="Calibri"/>
              </a:rPr>
              <a:t>Overview</a:t>
            </a:r>
          </a:p>
        </p:txBody>
      </p:sp>
      <p:sp>
        <p:nvSpPr>
          <p:cNvPr id="4" name="Rectangle 3"/>
          <p:cNvSpPr/>
          <p:nvPr/>
        </p:nvSpPr>
        <p:spPr>
          <a:xfrm>
            <a:off x="640080" y="1261872"/>
            <a:ext cx="822960" cy="5486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0"/>
            <a:ext cx="8229600" cy="274320"/>
          </a:xfrm>
          <a:prstGeom prst="rect">
            <a:avLst/>
          </a:prstGeom>
          <a:noFill/>
        </p:spPr>
        <p:txBody>
          <a:bodyPr wrap="square" anchor="ctr" lIns="0" rIns="0" tIns="0" bIns="0">
            <a:spAutoFit/>
          </a:bodyPr>
          <a:lstStyle/>
          <a:p>
            <a:r>
              <a:rPr sz="1000" b="0" i="0">
                <a:solidFill>
                  <a:srgbClr val="6B7585"/>
                </a:solidFill>
                <a:latin typeface="Calibri"/>
              </a:rPr>
              <a:t>Intervention Analysis for Predicting Stock Market using Deep Learning Algorithms and Ti…</a:t>
            </a:r>
          </a:p>
        </p:txBody>
      </p:sp>
      <p:sp>
        <p:nvSpPr>
          <p:cNvPr id="6" name="TextBox 5"/>
          <p:cNvSpPr txBox="1"/>
          <p:nvPr/>
        </p:nvSpPr>
        <p:spPr>
          <a:xfrm>
            <a:off x="10637215" y="6400800"/>
            <a:ext cx="914400" cy="274320"/>
          </a:xfrm>
          <a:prstGeom prst="rect">
            <a:avLst/>
          </a:prstGeom>
          <a:noFill/>
        </p:spPr>
        <p:txBody>
          <a:bodyPr wrap="square" anchor="ctr" lIns="0" rIns="0" tIns="0" bIns="0">
            <a:spAutoFit/>
          </a:bodyPr>
          <a:lstStyle/>
          <a:p>
            <a:pPr algn="r"/>
            <a:r>
              <a:rPr sz="1000" b="0" i="0">
                <a:solidFill>
                  <a:srgbClr val="6B7585"/>
                </a:solidFill>
                <a:latin typeface="Calibri"/>
              </a:rPr>
              <a:t>2</a:t>
            </a:r>
          </a:p>
        </p:txBody>
      </p:sp>
      <p:sp>
        <p:nvSpPr>
          <p:cNvPr id="7" name="TextBox 6"/>
          <p:cNvSpPr txBox="1"/>
          <p:nvPr/>
        </p:nvSpPr>
        <p:spPr>
          <a:xfrm>
            <a:off x="640080" y="1691640"/>
            <a:ext cx="5029200" cy="4114800"/>
          </a:xfrm>
          <a:prstGeom prst="rect">
            <a:avLst/>
          </a:prstGeom>
          <a:noFill/>
        </p:spPr>
        <p:txBody>
          <a:bodyPr wrap="square" anchor="t" lIns="0" rIns="0" tIns="0" bIns="0">
            <a:spAutoFit/>
          </a:bodyPr>
          <a:lstStyle/>
          <a:p>
            <a:pPr>
              <a:spcAft>
                <a:spcPts val="1600"/>
              </a:spcAft>
            </a:pPr>
            <a:r>
              <a:rPr sz="2400" b="1" i="0">
                <a:solidFill>
                  <a:srgbClr val="1B9AAA"/>
                </a:solidFill>
                <a:latin typeface="Calibri"/>
              </a:rPr>
              <a:t>01   </a:t>
            </a:r>
            <a:r>
              <a:rPr sz="2400" b="0" i="0">
                <a:solidFill>
                  <a:srgbClr val="222B3A"/>
                </a:solidFill>
                <a:latin typeface="Calibri"/>
              </a:rPr>
              <a:t>Introduction</a:t>
            </a:r>
          </a:p>
          <a:p>
            <a:pPr>
              <a:spcAft>
                <a:spcPts val="1600"/>
              </a:spcAft>
            </a:pPr>
            <a:r>
              <a:rPr sz="2400" b="1" i="0">
                <a:solidFill>
                  <a:srgbClr val="1B9AAA"/>
                </a:solidFill>
                <a:latin typeface="Calibri"/>
              </a:rPr>
              <a:t>02   </a:t>
            </a:r>
            <a:r>
              <a:rPr sz="2400" b="0" i="0">
                <a:solidFill>
                  <a:srgbClr val="222B3A"/>
                </a:solidFill>
                <a:latin typeface="Calibri"/>
              </a:rPr>
              <a:t>Methodology</a:t>
            </a:r>
          </a:p>
          <a:p>
            <a:pPr>
              <a:spcAft>
                <a:spcPts val="1600"/>
              </a:spcAft>
            </a:pPr>
            <a:r>
              <a:rPr sz="2400" b="1" i="0">
                <a:solidFill>
                  <a:srgbClr val="1B9AAA"/>
                </a:solidFill>
                <a:latin typeface="Calibri"/>
              </a:rPr>
              <a:t>03   </a:t>
            </a:r>
            <a:r>
              <a:rPr sz="2400" b="0" i="0">
                <a:solidFill>
                  <a:srgbClr val="222B3A"/>
                </a:solidFill>
                <a:latin typeface="Calibri"/>
              </a:rPr>
              <a:t>Findings &amp; Results</a:t>
            </a:r>
          </a:p>
          <a:p>
            <a:pPr>
              <a:spcAft>
                <a:spcPts val="1600"/>
              </a:spcAft>
            </a:pPr>
            <a:r>
              <a:rPr sz="2400" b="1" i="0">
                <a:solidFill>
                  <a:srgbClr val="1B9AAA"/>
                </a:solidFill>
                <a:latin typeface="Calibri"/>
              </a:rPr>
              <a:t>04   </a:t>
            </a:r>
            <a:r>
              <a:rPr sz="2400" b="0" i="0">
                <a:solidFill>
                  <a:srgbClr val="222B3A"/>
                </a:solidFill>
                <a:latin typeface="Calibri"/>
              </a:rPr>
              <a:t>Key Statistics</a:t>
            </a:r>
          </a:p>
          <a:p>
            <a:pPr>
              <a:spcAft>
                <a:spcPts val="1600"/>
              </a:spcAft>
            </a:pPr>
            <a:r>
              <a:rPr sz="2400" b="1" i="0">
                <a:solidFill>
                  <a:srgbClr val="1B9AAA"/>
                </a:solidFill>
                <a:latin typeface="Calibri"/>
              </a:rPr>
              <a:t>05   </a:t>
            </a:r>
            <a:r>
              <a:rPr sz="2400" b="0" i="0">
                <a:solidFill>
                  <a:srgbClr val="222B3A"/>
                </a:solidFill>
                <a:latin typeface="Calibri"/>
              </a:rPr>
              <a:t>Applications</a:t>
            </a:r>
          </a:p>
        </p:txBody>
      </p:sp>
      <p:sp>
        <p:nvSpPr>
          <p:cNvPr id="8" name="TextBox 7"/>
          <p:cNvSpPr txBox="1"/>
          <p:nvPr/>
        </p:nvSpPr>
        <p:spPr>
          <a:xfrm>
            <a:off x="6035040" y="1691640"/>
            <a:ext cx="5029200" cy="4114800"/>
          </a:xfrm>
          <a:prstGeom prst="rect">
            <a:avLst/>
          </a:prstGeom>
          <a:noFill/>
        </p:spPr>
        <p:txBody>
          <a:bodyPr wrap="square" anchor="t" lIns="0" rIns="0" tIns="0" bIns="0">
            <a:spAutoFit/>
          </a:bodyPr>
          <a:lstStyle/>
          <a:p>
            <a:pPr>
              <a:spcAft>
                <a:spcPts val="1600"/>
              </a:spcAft>
            </a:pPr>
            <a:r>
              <a:rPr sz="2400" b="1" i="0">
                <a:solidFill>
                  <a:srgbClr val="1B9AAA"/>
                </a:solidFill>
                <a:latin typeface="Calibri"/>
              </a:rPr>
              <a:t>06   </a:t>
            </a:r>
            <a:r>
              <a:rPr sz="2400" b="0" i="0">
                <a:solidFill>
                  <a:srgbClr val="222B3A"/>
                </a:solidFill>
                <a:latin typeface="Calibri"/>
              </a:rPr>
              <a:t>Challenges &amp; Limitations</a:t>
            </a:r>
          </a:p>
          <a:p>
            <a:pPr>
              <a:spcAft>
                <a:spcPts val="1600"/>
              </a:spcAft>
            </a:pPr>
            <a:r>
              <a:rPr sz="2400" b="1" i="0">
                <a:solidFill>
                  <a:srgbClr val="1B9AAA"/>
                </a:solidFill>
                <a:latin typeface="Calibri"/>
              </a:rPr>
              <a:t>07   </a:t>
            </a:r>
            <a:r>
              <a:rPr sz="2400" b="0" i="0">
                <a:solidFill>
                  <a:srgbClr val="222B3A"/>
                </a:solidFill>
                <a:latin typeface="Calibri"/>
              </a:rPr>
              <a:t>Future Scope</a:t>
            </a:r>
          </a:p>
          <a:p>
            <a:pPr>
              <a:spcAft>
                <a:spcPts val="1600"/>
              </a:spcAft>
            </a:pPr>
            <a:r>
              <a:rPr sz="2400" b="1" i="0">
                <a:solidFill>
                  <a:srgbClr val="1B9AAA"/>
                </a:solidFill>
                <a:latin typeface="Calibri"/>
              </a:rPr>
              <a:t>08   </a:t>
            </a:r>
            <a:r>
              <a:rPr sz="2400" b="0" i="0">
                <a:solidFill>
                  <a:srgbClr val="222B3A"/>
                </a:solidFill>
                <a:latin typeface="Calibri"/>
              </a:rPr>
              <a:t>Conclusion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777240"/>
          </a:xfrm>
          <a:prstGeom prst="rect">
            <a:avLst/>
          </a:prstGeom>
          <a:noFill/>
        </p:spPr>
        <p:txBody>
          <a:bodyPr wrap="square" anchor="ctr" lIns="0" rIns="0" tIns="0" bIns="0">
            <a:spAutoFit/>
          </a:bodyPr>
          <a:lstStyle/>
          <a:p>
            <a:r>
              <a:rPr sz="3400" b="1" i="0">
                <a:solidFill>
                  <a:srgbClr val="14213D"/>
                </a:solidFill>
                <a:latin typeface="Calibri"/>
              </a:rPr>
              <a:t>Introduction</a:t>
            </a:r>
          </a:p>
        </p:txBody>
      </p:sp>
      <p:sp>
        <p:nvSpPr>
          <p:cNvPr id="4" name="Rectangle 3"/>
          <p:cNvSpPr/>
          <p:nvPr/>
        </p:nvSpPr>
        <p:spPr>
          <a:xfrm>
            <a:off x="640080" y="1261872"/>
            <a:ext cx="822960" cy="5486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0"/>
            <a:ext cx="8229600" cy="274320"/>
          </a:xfrm>
          <a:prstGeom prst="rect">
            <a:avLst/>
          </a:prstGeom>
          <a:noFill/>
        </p:spPr>
        <p:txBody>
          <a:bodyPr wrap="square" anchor="ctr" lIns="0" rIns="0" tIns="0" bIns="0">
            <a:spAutoFit/>
          </a:bodyPr>
          <a:lstStyle/>
          <a:p>
            <a:r>
              <a:rPr sz="1000" b="0" i="0">
                <a:solidFill>
                  <a:srgbClr val="6B7585"/>
                </a:solidFill>
                <a:latin typeface="Calibri"/>
              </a:rPr>
              <a:t>Intervention Analysis for Predicting Stock Market using Deep Learning Algorithms and Ti…</a:t>
            </a:r>
          </a:p>
        </p:txBody>
      </p:sp>
      <p:sp>
        <p:nvSpPr>
          <p:cNvPr id="6" name="TextBox 5"/>
          <p:cNvSpPr txBox="1"/>
          <p:nvPr/>
        </p:nvSpPr>
        <p:spPr>
          <a:xfrm>
            <a:off x="10637215" y="6400800"/>
            <a:ext cx="914400" cy="274320"/>
          </a:xfrm>
          <a:prstGeom prst="rect">
            <a:avLst/>
          </a:prstGeom>
          <a:noFill/>
        </p:spPr>
        <p:txBody>
          <a:bodyPr wrap="square" anchor="ctr" lIns="0" rIns="0" tIns="0" bIns="0">
            <a:spAutoFit/>
          </a:bodyPr>
          <a:lstStyle/>
          <a:p>
            <a:pPr algn="r"/>
            <a:r>
              <a:rPr sz="1000" b="0" i="0">
                <a:solidFill>
                  <a:srgbClr val="6B7585"/>
                </a:solidFill>
                <a:latin typeface="Calibri"/>
              </a:rPr>
              <a:t>3</a:t>
            </a:r>
          </a:p>
        </p:txBody>
      </p:sp>
      <p:sp>
        <p:nvSpPr>
          <p:cNvPr id="7" name="TextBox 6"/>
          <p:cNvSpPr txBox="1"/>
          <p:nvPr/>
        </p:nvSpPr>
        <p:spPr>
          <a:xfrm>
            <a:off x="640080" y="1600200"/>
            <a:ext cx="10911535" cy="4572000"/>
          </a:xfrm>
          <a:prstGeom prst="rect">
            <a:avLst/>
          </a:prstGeom>
          <a:noFill/>
        </p:spPr>
        <p:txBody>
          <a:bodyPr wrap="square" anchor="t" lIns="0" rIns="0" tIns="0" bIns="0">
            <a:spAutoFit/>
          </a:bodyPr>
          <a:lstStyle/>
          <a:p>
            <a:pPr algn="l" marL="320040" indent="-320040">
              <a:lnSpc>
                <a:spcPct val="108000"/>
              </a:lnSpc>
              <a:spcAft>
                <a:spcPts val="1430"/>
              </a:spcAft>
              <a:buClr>
                <a:srgbClr val="1B9AAA"/>
              </a:buClr>
              <a:buChar char="•"/>
            </a:pPr>
            <a:r>
              <a:rPr sz="2600" b="0" i="0">
                <a:solidFill>
                  <a:srgbClr val="222B3A"/>
                </a:solidFill>
                <a:latin typeface="Calibri"/>
              </a:rPr>
              <a:t>Stock market prediction is challenging due to its intricate and volatile nature.</a:t>
            </a:r>
          </a:p>
          <a:p>
            <a:pPr algn="l" marL="320040" indent="-320040">
              <a:lnSpc>
                <a:spcPct val="108000"/>
              </a:lnSpc>
              <a:spcAft>
                <a:spcPts val="1430"/>
              </a:spcAft>
              <a:buClr>
                <a:srgbClr val="1B9AAA"/>
              </a:buClr>
              <a:buChar char="•"/>
            </a:pPr>
            <a:r>
              <a:rPr sz="2600" b="0" i="0">
                <a:solidFill>
                  <a:srgbClr val="222B3A"/>
                </a:solidFill>
                <a:latin typeface="Calibri"/>
              </a:rPr>
              <a:t>Classical Time Series Analysis techniques struggle with generalization and computation on real-world data.</a:t>
            </a:r>
          </a:p>
          <a:p>
            <a:pPr algn="l" marL="320040" indent="-320040">
              <a:lnSpc>
                <a:spcPct val="108000"/>
              </a:lnSpc>
              <a:spcAft>
                <a:spcPts val="1430"/>
              </a:spcAft>
              <a:buClr>
                <a:srgbClr val="1B9AAA"/>
              </a:buClr>
              <a:buChar char="•"/>
            </a:pPr>
            <a:r>
              <a:rPr sz="2600" b="0" i="0">
                <a:solidFill>
                  <a:srgbClr val="222B3A"/>
                </a:solidFill>
                <a:latin typeface="Calibri"/>
              </a:rPr>
              <a:t>Deep Learning (DL) models, specifically Recurrent Neural Networks (RNN), can improve prediction capacities.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777240"/>
          </a:xfrm>
          <a:prstGeom prst="rect">
            <a:avLst/>
          </a:prstGeom>
          <a:noFill/>
        </p:spPr>
        <p:txBody>
          <a:bodyPr wrap="square" anchor="ctr" lIns="0" rIns="0" tIns="0" bIns="0">
            <a:spAutoFit/>
          </a:bodyPr>
          <a:lstStyle/>
          <a:p>
            <a:r>
              <a:rPr sz="3400" b="1" i="0">
                <a:solidFill>
                  <a:srgbClr val="14213D"/>
                </a:solidFill>
                <a:latin typeface="Calibri"/>
              </a:rPr>
              <a:t>Methodology</a:t>
            </a:r>
          </a:p>
        </p:txBody>
      </p:sp>
      <p:sp>
        <p:nvSpPr>
          <p:cNvPr id="4" name="Rectangle 3"/>
          <p:cNvSpPr/>
          <p:nvPr/>
        </p:nvSpPr>
        <p:spPr>
          <a:xfrm>
            <a:off x="640080" y="1261872"/>
            <a:ext cx="822960" cy="5486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0"/>
            <a:ext cx="8229600" cy="274320"/>
          </a:xfrm>
          <a:prstGeom prst="rect">
            <a:avLst/>
          </a:prstGeom>
          <a:noFill/>
        </p:spPr>
        <p:txBody>
          <a:bodyPr wrap="square" anchor="ctr" lIns="0" rIns="0" tIns="0" bIns="0">
            <a:spAutoFit/>
          </a:bodyPr>
          <a:lstStyle/>
          <a:p>
            <a:r>
              <a:rPr sz="1000" b="0" i="0">
                <a:solidFill>
                  <a:srgbClr val="6B7585"/>
                </a:solidFill>
                <a:latin typeface="Calibri"/>
              </a:rPr>
              <a:t>Intervention Analysis for Predicting Stock Market using Deep Learning Algorithms and Ti…</a:t>
            </a:r>
          </a:p>
        </p:txBody>
      </p:sp>
      <p:sp>
        <p:nvSpPr>
          <p:cNvPr id="6" name="TextBox 5"/>
          <p:cNvSpPr txBox="1"/>
          <p:nvPr/>
        </p:nvSpPr>
        <p:spPr>
          <a:xfrm>
            <a:off x="10637215" y="6400800"/>
            <a:ext cx="914400" cy="274320"/>
          </a:xfrm>
          <a:prstGeom prst="rect">
            <a:avLst/>
          </a:prstGeom>
          <a:noFill/>
        </p:spPr>
        <p:txBody>
          <a:bodyPr wrap="square" anchor="ctr" lIns="0" rIns="0" tIns="0" bIns="0">
            <a:spAutoFit/>
          </a:bodyPr>
          <a:lstStyle/>
          <a:p>
            <a:pPr algn="r"/>
            <a:r>
              <a:rPr sz="1000" b="0" i="0">
                <a:solidFill>
                  <a:srgbClr val="6B7585"/>
                </a:solidFill>
                <a:latin typeface="Calibri"/>
              </a:rPr>
              <a:t>4</a:t>
            </a:r>
          </a:p>
        </p:txBody>
      </p:sp>
      <p:sp>
        <p:nvSpPr>
          <p:cNvPr id="7" name="TextBox 6"/>
          <p:cNvSpPr txBox="1"/>
          <p:nvPr/>
        </p:nvSpPr>
        <p:spPr>
          <a:xfrm>
            <a:off x="640080" y="1600200"/>
            <a:ext cx="10911535" cy="4572000"/>
          </a:xfrm>
          <a:prstGeom prst="rect">
            <a:avLst/>
          </a:prstGeom>
          <a:noFill/>
        </p:spPr>
        <p:txBody>
          <a:bodyPr wrap="square" anchor="t" lIns="0" rIns="0" tIns="0" bIns="0">
            <a:spAutoFit/>
          </a:bodyPr>
          <a:lstStyle/>
          <a:p>
            <a:pPr algn="l" marL="320040" indent="-320040">
              <a:lnSpc>
                <a:spcPct val="108000"/>
              </a:lnSpc>
              <a:spcAft>
                <a:spcPts val="1430"/>
              </a:spcAft>
              <a:buClr>
                <a:srgbClr val="1B9AAA"/>
              </a:buClr>
              <a:buChar char="•"/>
            </a:pPr>
            <a:r>
              <a:rPr sz="2600" b="0" i="0">
                <a:solidFill>
                  <a:srgbClr val="222B3A"/>
                </a:solidFill>
                <a:latin typeface="Calibri"/>
              </a:rPr>
              <a:t>The dataset of Tesla and IBM stocks was collected from a legitimate source.</a:t>
            </a:r>
          </a:p>
          <a:p>
            <a:pPr algn="l" marL="320040" indent="-320040">
              <a:lnSpc>
                <a:spcPct val="108000"/>
              </a:lnSpc>
              <a:spcAft>
                <a:spcPts val="1430"/>
              </a:spcAft>
              <a:buClr>
                <a:srgbClr val="1B9AAA"/>
              </a:buClr>
              <a:buChar char="•"/>
            </a:pPr>
            <a:r>
              <a:rPr sz="2600" b="0" i="0">
                <a:solidFill>
                  <a:srgbClr val="222B3A"/>
                </a:solidFill>
                <a:latin typeface="Calibri"/>
              </a:rPr>
              <a:t>The data was divided into training and testing groups using an 80/20 split for model fitting.</a:t>
            </a:r>
          </a:p>
          <a:p>
            <a:pPr algn="l" marL="320040" indent="-320040">
              <a:lnSpc>
                <a:spcPct val="108000"/>
              </a:lnSpc>
              <a:spcAft>
                <a:spcPts val="1430"/>
              </a:spcAft>
              <a:buClr>
                <a:srgbClr val="1B9AAA"/>
              </a:buClr>
              <a:buChar char="•"/>
            </a:pPr>
            <a:r>
              <a:rPr sz="2600" b="0" i="0">
                <a:solidFill>
                  <a:srgbClr val="222B3A"/>
                </a:solidFill>
                <a:latin typeface="Calibri"/>
              </a:rPr>
              <a:t>The proposed approach uses 6 different models, including RNN, to predict stock values.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777240"/>
          </a:xfrm>
          <a:prstGeom prst="rect">
            <a:avLst/>
          </a:prstGeom>
          <a:noFill/>
        </p:spPr>
        <p:txBody>
          <a:bodyPr wrap="square" anchor="ctr" lIns="0" rIns="0" tIns="0" bIns="0">
            <a:spAutoFit/>
          </a:bodyPr>
          <a:lstStyle/>
          <a:p>
            <a:r>
              <a:rPr sz="2800" b="1" i="0">
                <a:solidFill>
                  <a:srgbClr val="14213D"/>
                </a:solidFill>
                <a:latin typeface="Calibri"/>
              </a:rPr>
              <a:t>A graphical representation of the approach</a:t>
            </a:r>
          </a:p>
        </p:txBody>
      </p:sp>
      <p:sp>
        <p:nvSpPr>
          <p:cNvPr id="4" name="Rectangle 3"/>
          <p:cNvSpPr/>
          <p:nvPr/>
        </p:nvSpPr>
        <p:spPr>
          <a:xfrm>
            <a:off x="640080" y="1261872"/>
            <a:ext cx="822960" cy="5486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0"/>
            <a:ext cx="8229600" cy="274320"/>
          </a:xfrm>
          <a:prstGeom prst="rect">
            <a:avLst/>
          </a:prstGeom>
          <a:noFill/>
        </p:spPr>
        <p:txBody>
          <a:bodyPr wrap="square" anchor="ctr" lIns="0" rIns="0" tIns="0" bIns="0">
            <a:spAutoFit/>
          </a:bodyPr>
          <a:lstStyle/>
          <a:p>
            <a:r>
              <a:rPr sz="1000" b="0" i="0">
                <a:solidFill>
                  <a:srgbClr val="6B7585"/>
                </a:solidFill>
                <a:latin typeface="Calibri"/>
              </a:rPr>
              <a:t>Intervention Analysis for Predicting Stock Market using Deep Learning Algorithms and Ti…</a:t>
            </a:r>
          </a:p>
        </p:txBody>
      </p:sp>
      <p:sp>
        <p:nvSpPr>
          <p:cNvPr id="6" name="TextBox 5"/>
          <p:cNvSpPr txBox="1"/>
          <p:nvPr/>
        </p:nvSpPr>
        <p:spPr>
          <a:xfrm>
            <a:off x="10637215" y="6400800"/>
            <a:ext cx="914400" cy="274320"/>
          </a:xfrm>
          <a:prstGeom prst="rect">
            <a:avLst/>
          </a:prstGeom>
          <a:noFill/>
        </p:spPr>
        <p:txBody>
          <a:bodyPr wrap="square" anchor="ctr" lIns="0" rIns="0" tIns="0" bIns="0">
            <a:spAutoFit/>
          </a:bodyPr>
          <a:lstStyle/>
          <a:p>
            <a:pPr algn="r"/>
            <a:r>
              <a:rPr sz="1000" b="0" i="0">
                <a:solidFill>
                  <a:srgbClr val="6B7585"/>
                </a:solidFill>
                <a:latin typeface="Calibri"/>
              </a:rPr>
              <a:t>5</a:t>
            </a:r>
          </a:p>
        </p:txBody>
      </p:sp>
      <p:sp>
        <p:nvSpPr>
          <p:cNvPr id="7" name="Rectangle 6"/>
          <p:cNvSpPr/>
          <p:nvPr/>
        </p:nvSpPr>
        <p:spPr>
          <a:xfrm>
            <a:off x="640080" y="1508760"/>
            <a:ext cx="10911535" cy="4325112"/>
          </a:xfrm>
          <a:prstGeom prst="rect">
            <a:avLst/>
          </a:prstGeom>
          <a:solidFill>
            <a:srgbClr val="F3F5F8"/>
          </a:solidFill>
          <a:ln w="9525">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age03_img1.jpeg"/>
          <p:cNvPicPr>
            <a:picLocks noChangeAspect="1"/>
          </p:cNvPicPr>
          <p:nvPr/>
        </p:nvPicPr>
        <p:blipFill>
          <a:blip r:embed="rId2"/>
          <a:stretch>
            <a:fillRect/>
          </a:stretch>
        </p:blipFill>
        <p:spPr>
          <a:xfrm>
            <a:off x="3271766" y="1645919"/>
            <a:ext cx="5648163" cy="4050791"/>
          </a:xfrm>
          <a:prstGeom prst="rect">
            <a:avLst/>
          </a:prstGeom>
        </p:spPr>
      </p:pic>
      <p:sp>
        <p:nvSpPr>
          <p:cNvPr id="9" name="TextBox 8"/>
          <p:cNvSpPr txBox="1"/>
          <p:nvPr/>
        </p:nvSpPr>
        <p:spPr>
          <a:xfrm>
            <a:off x="640080" y="5907023"/>
            <a:ext cx="10911535" cy="265176"/>
          </a:xfrm>
          <a:prstGeom prst="rect">
            <a:avLst/>
          </a:prstGeom>
          <a:noFill/>
        </p:spPr>
        <p:txBody>
          <a:bodyPr wrap="square" anchor="t" lIns="0" rIns="0" tIns="0" bIns="0">
            <a:spAutoFit/>
          </a:bodyPr>
          <a:lstStyle/>
          <a:p>
            <a:r>
              <a:rPr sz="1200" b="0" i="1">
                <a:solidFill>
                  <a:srgbClr val="6B7585"/>
                </a:solidFill>
                <a:latin typeface="Calibri"/>
              </a:rPr>
              <a:t>Fig. 1. A graphical representation of the approach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777240"/>
          </a:xfrm>
          <a:prstGeom prst="rect">
            <a:avLst/>
          </a:prstGeom>
          <a:noFill/>
        </p:spPr>
        <p:txBody>
          <a:bodyPr wrap="square" anchor="ctr" lIns="0" rIns="0" tIns="0" bIns="0">
            <a:spAutoFit/>
          </a:bodyPr>
          <a:lstStyle/>
          <a:p>
            <a:r>
              <a:rPr sz="3400" b="1" i="0">
                <a:solidFill>
                  <a:srgbClr val="14213D"/>
                </a:solidFill>
                <a:latin typeface="Calibri"/>
              </a:rPr>
              <a:t>Findings &amp; Results</a:t>
            </a:r>
          </a:p>
        </p:txBody>
      </p:sp>
      <p:sp>
        <p:nvSpPr>
          <p:cNvPr id="4" name="Rectangle 3"/>
          <p:cNvSpPr/>
          <p:nvPr/>
        </p:nvSpPr>
        <p:spPr>
          <a:xfrm>
            <a:off x="640080" y="1261872"/>
            <a:ext cx="822960" cy="5486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0"/>
            <a:ext cx="8229600" cy="274320"/>
          </a:xfrm>
          <a:prstGeom prst="rect">
            <a:avLst/>
          </a:prstGeom>
          <a:noFill/>
        </p:spPr>
        <p:txBody>
          <a:bodyPr wrap="square" anchor="ctr" lIns="0" rIns="0" tIns="0" bIns="0">
            <a:spAutoFit/>
          </a:bodyPr>
          <a:lstStyle/>
          <a:p>
            <a:r>
              <a:rPr sz="1000" b="0" i="0">
                <a:solidFill>
                  <a:srgbClr val="6B7585"/>
                </a:solidFill>
                <a:latin typeface="Calibri"/>
              </a:rPr>
              <a:t>Intervention Analysis for Predicting Stock Market using Deep Learning Algorithms and Ti…</a:t>
            </a:r>
          </a:p>
        </p:txBody>
      </p:sp>
      <p:sp>
        <p:nvSpPr>
          <p:cNvPr id="6" name="TextBox 5"/>
          <p:cNvSpPr txBox="1"/>
          <p:nvPr/>
        </p:nvSpPr>
        <p:spPr>
          <a:xfrm>
            <a:off x="10637215" y="6400800"/>
            <a:ext cx="914400" cy="274320"/>
          </a:xfrm>
          <a:prstGeom prst="rect">
            <a:avLst/>
          </a:prstGeom>
          <a:noFill/>
        </p:spPr>
        <p:txBody>
          <a:bodyPr wrap="square" anchor="ctr" lIns="0" rIns="0" tIns="0" bIns="0">
            <a:spAutoFit/>
          </a:bodyPr>
          <a:lstStyle/>
          <a:p>
            <a:pPr algn="r"/>
            <a:r>
              <a:rPr sz="1000" b="0" i="0">
                <a:solidFill>
                  <a:srgbClr val="6B7585"/>
                </a:solidFill>
                <a:latin typeface="Calibri"/>
              </a:rPr>
              <a:t>6</a:t>
            </a:r>
          </a:p>
        </p:txBody>
      </p:sp>
      <p:sp>
        <p:nvSpPr>
          <p:cNvPr id="7" name="TextBox 6"/>
          <p:cNvSpPr txBox="1"/>
          <p:nvPr/>
        </p:nvSpPr>
        <p:spPr>
          <a:xfrm>
            <a:off x="640080" y="1600200"/>
            <a:ext cx="10911535" cy="4572000"/>
          </a:xfrm>
          <a:prstGeom prst="rect">
            <a:avLst/>
          </a:prstGeom>
          <a:noFill/>
        </p:spPr>
        <p:txBody>
          <a:bodyPr wrap="square" anchor="t" lIns="0" rIns="0" tIns="0" bIns="0">
            <a:spAutoFit/>
          </a:bodyPr>
          <a:lstStyle/>
          <a:p>
            <a:pPr algn="l" marL="320040" indent="-320040">
              <a:lnSpc>
                <a:spcPct val="108000"/>
              </a:lnSpc>
              <a:spcAft>
                <a:spcPts val="1430"/>
              </a:spcAft>
              <a:buClr>
                <a:srgbClr val="1B9AAA"/>
              </a:buClr>
              <a:buChar char="•"/>
            </a:pPr>
            <a:r>
              <a:rPr sz="2600" b="0" i="0">
                <a:solidFill>
                  <a:srgbClr val="222B3A"/>
                </a:solidFill>
                <a:latin typeface="Calibri"/>
              </a:rPr>
              <a:t>LSTM produced the most accurate findings out of the rest in their study.</a:t>
            </a:r>
          </a:p>
          <a:p>
            <a:pPr algn="l" marL="320040" indent="-320040">
              <a:lnSpc>
                <a:spcPct val="108000"/>
              </a:lnSpc>
              <a:spcAft>
                <a:spcPts val="1430"/>
              </a:spcAft>
              <a:buClr>
                <a:srgbClr val="1B9AAA"/>
              </a:buClr>
              <a:buChar char="•"/>
            </a:pPr>
            <a:r>
              <a:rPr sz="2600" b="0" i="0">
                <a:solidFill>
                  <a:srgbClr val="222B3A"/>
                </a:solidFill>
                <a:latin typeface="Calibri"/>
              </a:rPr>
              <a:t>The Proximal Policy Optimisation (PPO) method is the most effective, outperforming Deep Q-learning (DQN) and Soft Actor Critic (SAC).</a:t>
            </a:r>
          </a:p>
          <a:p>
            <a:pPr algn="l" marL="320040" indent="-320040">
              <a:lnSpc>
                <a:spcPct val="108000"/>
              </a:lnSpc>
              <a:spcAft>
                <a:spcPts val="1430"/>
              </a:spcAft>
              <a:buClr>
                <a:srgbClr val="1B9AAA"/>
              </a:buClr>
              <a:buChar char="•"/>
            </a:pPr>
            <a:r>
              <a:rPr sz="2600" b="0" i="0">
                <a:solidFill>
                  <a:srgbClr val="222B3A"/>
                </a:solidFill>
                <a:latin typeface="Calibri"/>
              </a:rPr>
              <a:t>The results show a widespread fall in stock prices following the COVID-19 outbreak, with differing effects in different nations.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777240"/>
          </a:xfrm>
          <a:prstGeom prst="rect">
            <a:avLst/>
          </a:prstGeom>
          <a:noFill/>
        </p:spPr>
        <p:txBody>
          <a:bodyPr wrap="square" anchor="ctr" lIns="0" rIns="0" tIns="0" bIns="0">
            <a:spAutoFit/>
          </a:bodyPr>
          <a:lstStyle/>
          <a:p>
            <a:r>
              <a:rPr sz="2800" b="1" i="0">
                <a:solidFill>
                  <a:srgbClr val="14213D"/>
                </a:solidFill>
                <a:latin typeface="Calibri"/>
              </a:rPr>
              <a:t>Graph denoting forecasting before intervention</a:t>
            </a:r>
          </a:p>
        </p:txBody>
      </p:sp>
      <p:sp>
        <p:nvSpPr>
          <p:cNvPr id="4" name="Rectangle 3"/>
          <p:cNvSpPr/>
          <p:nvPr/>
        </p:nvSpPr>
        <p:spPr>
          <a:xfrm>
            <a:off x="640080" y="1261872"/>
            <a:ext cx="822960" cy="5486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0"/>
            <a:ext cx="8229600" cy="274320"/>
          </a:xfrm>
          <a:prstGeom prst="rect">
            <a:avLst/>
          </a:prstGeom>
          <a:noFill/>
        </p:spPr>
        <p:txBody>
          <a:bodyPr wrap="square" anchor="ctr" lIns="0" rIns="0" tIns="0" bIns="0">
            <a:spAutoFit/>
          </a:bodyPr>
          <a:lstStyle/>
          <a:p>
            <a:r>
              <a:rPr sz="1000" b="0" i="0">
                <a:solidFill>
                  <a:srgbClr val="6B7585"/>
                </a:solidFill>
                <a:latin typeface="Calibri"/>
              </a:rPr>
              <a:t>Intervention Analysis for Predicting Stock Market using Deep Learning Algorithms and Ti…</a:t>
            </a:r>
          </a:p>
        </p:txBody>
      </p:sp>
      <p:sp>
        <p:nvSpPr>
          <p:cNvPr id="6" name="TextBox 5"/>
          <p:cNvSpPr txBox="1"/>
          <p:nvPr/>
        </p:nvSpPr>
        <p:spPr>
          <a:xfrm>
            <a:off x="10637215" y="6400800"/>
            <a:ext cx="914400" cy="274320"/>
          </a:xfrm>
          <a:prstGeom prst="rect">
            <a:avLst/>
          </a:prstGeom>
          <a:noFill/>
        </p:spPr>
        <p:txBody>
          <a:bodyPr wrap="square" anchor="ctr" lIns="0" rIns="0" tIns="0" bIns="0">
            <a:spAutoFit/>
          </a:bodyPr>
          <a:lstStyle/>
          <a:p>
            <a:pPr algn="r"/>
            <a:r>
              <a:rPr sz="1000" b="0" i="0">
                <a:solidFill>
                  <a:srgbClr val="6B7585"/>
                </a:solidFill>
                <a:latin typeface="Calibri"/>
              </a:rPr>
              <a:t>7</a:t>
            </a:r>
          </a:p>
        </p:txBody>
      </p:sp>
      <p:sp>
        <p:nvSpPr>
          <p:cNvPr id="7" name="Rectangle 6"/>
          <p:cNvSpPr/>
          <p:nvPr/>
        </p:nvSpPr>
        <p:spPr>
          <a:xfrm>
            <a:off x="640080" y="1508760"/>
            <a:ext cx="10911535" cy="4325112"/>
          </a:xfrm>
          <a:prstGeom prst="rect">
            <a:avLst/>
          </a:prstGeom>
          <a:solidFill>
            <a:srgbClr val="F3F5F8"/>
          </a:solidFill>
          <a:ln w="9525">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age06_img1.png"/>
          <p:cNvPicPr>
            <a:picLocks noChangeAspect="1"/>
          </p:cNvPicPr>
          <p:nvPr/>
        </p:nvPicPr>
        <p:blipFill>
          <a:blip r:embed="rId2"/>
          <a:stretch>
            <a:fillRect/>
          </a:stretch>
        </p:blipFill>
        <p:spPr>
          <a:xfrm>
            <a:off x="1023435" y="1645919"/>
            <a:ext cx="10144824" cy="4050791"/>
          </a:xfrm>
          <a:prstGeom prst="rect">
            <a:avLst/>
          </a:prstGeom>
        </p:spPr>
      </p:pic>
      <p:sp>
        <p:nvSpPr>
          <p:cNvPr id="9" name="TextBox 8"/>
          <p:cNvSpPr txBox="1"/>
          <p:nvPr/>
        </p:nvSpPr>
        <p:spPr>
          <a:xfrm>
            <a:off x="640080" y="5907023"/>
            <a:ext cx="10911535" cy="265176"/>
          </a:xfrm>
          <a:prstGeom prst="rect">
            <a:avLst/>
          </a:prstGeom>
          <a:noFill/>
        </p:spPr>
        <p:txBody>
          <a:bodyPr wrap="square" anchor="t" lIns="0" rIns="0" tIns="0" bIns="0">
            <a:spAutoFit/>
          </a:bodyPr>
          <a:lstStyle/>
          <a:p>
            <a:r>
              <a:rPr sz="1200" b="0" i="1">
                <a:solidFill>
                  <a:srgbClr val="6B7585"/>
                </a:solidFill>
                <a:latin typeface="Calibri"/>
              </a:rPr>
              <a:t>Fig. 4. Graph denoting forecasting before intervention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777240"/>
          </a:xfrm>
          <a:prstGeom prst="rect">
            <a:avLst/>
          </a:prstGeom>
          <a:noFill/>
        </p:spPr>
        <p:txBody>
          <a:bodyPr wrap="square" anchor="ctr" lIns="0" rIns="0" tIns="0" bIns="0">
            <a:spAutoFit/>
          </a:bodyPr>
          <a:lstStyle/>
          <a:p>
            <a:r>
              <a:rPr sz="2800" b="1" i="0">
                <a:solidFill>
                  <a:srgbClr val="14213D"/>
                </a:solidFill>
                <a:latin typeface="Calibri"/>
              </a:rPr>
              <a:t>Graph denoting forecasting after intervention</a:t>
            </a:r>
          </a:p>
        </p:txBody>
      </p:sp>
      <p:sp>
        <p:nvSpPr>
          <p:cNvPr id="4" name="Rectangle 3"/>
          <p:cNvSpPr/>
          <p:nvPr/>
        </p:nvSpPr>
        <p:spPr>
          <a:xfrm>
            <a:off x="640080" y="1261872"/>
            <a:ext cx="822960" cy="5486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0"/>
            <a:ext cx="8229600" cy="274320"/>
          </a:xfrm>
          <a:prstGeom prst="rect">
            <a:avLst/>
          </a:prstGeom>
          <a:noFill/>
        </p:spPr>
        <p:txBody>
          <a:bodyPr wrap="square" anchor="ctr" lIns="0" rIns="0" tIns="0" bIns="0">
            <a:spAutoFit/>
          </a:bodyPr>
          <a:lstStyle/>
          <a:p>
            <a:r>
              <a:rPr sz="1000" b="0" i="0">
                <a:solidFill>
                  <a:srgbClr val="6B7585"/>
                </a:solidFill>
                <a:latin typeface="Calibri"/>
              </a:rPr>
              <a:t>Intervention Analysis for Predicting Stock Market using Deep Learning Algorithms and Ti…</a:t>
            </a:r>
          </a:p>
        </p:txBody>
      </p:sp>
      <p:sp>
        <p:nvSpPr>
          <p:cNvPr id="6" name="TextBox 5"/>
          <p:cNvSpPr txBox="1"/>
          <p:nvPr/>
        </p:nvSpPr>
        <p:spPr>
          <a:xfrm>
            <a:off x="10637215" y="6400800"/>
            <a:ext cx="914400" cy="274320"/>
          </a:xfrm>
          <a:prstGeom prst="rect">
            <a:avLst/>
          </a:prstGeom>
          <a:noFill/>
        </p:spPr>
        <p:txBody>
          <a:bodyPr wrap="square" anchor="ctr" lIns="0" rIns="0" tIns="0" bIns="0">
            <a:spAutoFit/>
          </a:bodyPr>
          <a:lstStyle/>
          <a:p>
            <a:pPr algn="r"/>
            <a:r>
              <a:rPr sz="1000" b="0" i="0">
                <a:solidFill>
                  <a:srgbClr val="6B7585"/>
                </a:solidFill>
                <a:latin typeface="Calibri"/>
              </a:rPr>
              <a:t>8</a:t>
            </a:r>
          </a:p>
        </p:txBody>
      </p:sp>
      <p:sp>
        <p:nvSpPr>
          <p:cNvPr id="7" name="Rectangle 6"/>
          <p:cNvSpPr/>
          <p:nvPr/>
        </p:nvSpPr>
        <p:spPr>
          <a:xfrm>
            <a:off x="640080" y="1508760"/>
            <a:ext cx="10911535" cy="4325112"/>
          </a:xfrm>
          <a:prstGeom prst="rect">
            <a:avLst/>
          </a:prstGeom>
          <a:solidFill>
            <a:srgbClr val="F3F5F8"/>
          </a:solidFill>
          <a:ln w="9525">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age06_img2.png"/>
          <p:cNvPicPr>
            <a:picLocks noChangeAspect="1"/>
          </p:cNvPicPr>
          <p:nvPr/>
        </p:nvPicPr>
        <p:blipFill>
          <a:blip r:embed="rId2"/>
          <a:stretch>
            <a:fillRect/>
          </a:stretch>
        </p:blipFill>
        <p:spPr>
          <a:xfrm>
            <a:off x="1023435" y="1645919"/>
            <a:ext cx="10144824" cy="4050791"/>
          </a:xfrm>
          <a:prstGeom prst="rect">
            <a:avLst/>
          </a:prstGeom>
        </p:spPr>
      </p:pic>
      <p:sp>
        <p:nvSpPr>
          <p:cNvPr id="9" name="TextBox 8"/>
          <p:cNvSpPr txBox="1"/>
          <p:nvPr/>
        </p:nvSpPr>
        <p:spPr>
          <a:xfrm>
            <a:off x="640080" y="5907023"/>
            <a:ext cx="10911535" cy="265176"/>
          </a:xfrm>
          <a:prstGeom prst="rect">
            <a:avLst/>
          </a:prstGeom>
          <a:noFill/>
        </p:spPr>
        <p:txBody>
          <a:bodyPr wrap="square" anchor="t" lIns="0" rIns="0" tIns="0" bIns="0">
            <a:spAutoFit/>
          </a:bodyPr>
          <a:lstStyle/>
          <a:p>
            <a:r>
              <a:rPr sz="1200" b="0" i="1">
                <a:solidFill>
                  <a:srgbClr val="6B7585"/>
                </a:solidFill>
                <a:latin typeface="Calibri"/>
              </a:rPr>
              <a:t>Fig. 5. Graph denoting forecasting after intervention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777240"/>
          </a:xfrm>
          <a:prstGeom prst="rect">
            <a:avLst/>
          </a:prstGeom>
          <a:noFill/>
        </p:spPr>
        <p:txBody>
          <a:bodyPr wrap="square" anchor="ctr" lIns="0" rIns="0" tIns="0" bIns="0">
            <a:spAutoFit/>
          </a:bodyPr>
          <a:lstStyle/>
          <a:p>
            <a:r>
              <a:rPr sz="3400" b="1" i="0">
                <a:solidFill>
                  <a:srgbClr val="14213D"/>
                </a:solidFill>
                <a:latin typeface="Calibri"/>
              </a:rPr>
              <a:t>Key Statistics</a:t>
            </a:r>
          </a:p>
        </p:txBody>
      </p:sp>
      <p:sp>
        <p:nvSpPr>
          <p:cNvPr id="4" name="Rectangle 3"/>
          <p:cNvSpPr/>
          <p:nvPr/>
        </p:nvSpPr>
        <p:spPr>
          <a:xfrm>
            <a:off x="640080" y="1261872"/>
            <a:ext cx="822960" cy="5486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0"/>
            <a:ext cx="8229600" cy="274320"/>
          </a:xfrm>
          <a:prstGeom prst="rect">
            <a:avLst/>
          </a:prstGeom>
          <a:noFill/>
        </p:spPr>
        <p:txBody>
          <a:bodyPr wrap="square" anchor="ctr" lIns="0" rIns="0" tIns="0" bIns="0">
            <a:spAutoFit/>
          </a:bodyPr>
          <a:lstStyle/>
          <a:p>
            <a:r>
              <a:rPr sz="1000" b="0" i="0">
                <a:solidFill>
                  <a:srgbClr val="6B7585"/>
                </a:solidFill>
                <a:latin typeface="Calibri"/>
              </a:rPr>
              <a:t>Intervention Analysis for Predicting Stock Market using Deep Learning Algorithms and Ti…</a:t>
            </a:r>
          </a:p>
        </p:txBody>
      </p:sp>
      <p:sp>
        <p:nvSpPr>
          <p:cNvPr id="6" name="TextBox 5"/>
          <p:cNvSpPr txBox="1"/>
          <p:nvPr/>
        </p:nvSpPr>
        <p:spPr>
          <a:xfrm>
            <a:off x="10637215" y="6400800"/>
            <a:ext cx="914400" cy="274320"/>
          </a:xfrm>
          <a:prstGeom prst="rect">
            <a:avLst/>
          </a:prstGeom>
          <a:noFill/>
        </p:spPr>
        <p:txBody>
          <a:bodyPr wrap="square" anchor="ctr" lIns="0" rIns="0" tIns="0" bIns="0">
            <a:spAutoFit/>
          </a:bodyPr>
          <a:lstStyle/>
          <a:p>
            <a:pPr algn="r"/>
            <a:r>
              <a:rPr sz="1000" b="0" i="0">
                <a:solidFill>
                  <a:srgbClr val="6B7585"/>
                </a:solidFill>
                <a:latin typeface="Calibri"/>
              </a:rPr>
              <a:t>9</a:t>
            </a:r>
          </a:p>
        </p:txBody>
      </p:sp>
      <p:sp>
        <p:nvSpPr>
          <p:cNvPr id="7" name="TextBox 6"/>
          <p:cNvSpPr txBox="1"/>
          <p:nvPr/>
        </p:nvSpPr>
        <p:spPr>
          <a:xfrm>
            <a:off x="640080" y="1600200"/>
            <a:ext cx="10911535" cy="4572000"/>
          </a:xfrm>
          <a:prstGeom prst="rect">
            <a:avLst/>
          </a:prstGeom>
          <a:noFill/>
        </p:spPr>
        <p:txBody>
          <a:bodyPr wrap="square" anchor="t" lIns="0" rIns="0" tIns="0" bIns="0">
            <a:spAutoFit/>
          </a:bodyPr>
          <a:lstStyle/>
          <a:p>
            <a:pPr algn="l" marL="320040" indent="-320040">
              <a:lnSpc>
                <a:spcPct val="108000"/>
              </a:lnSpc>
              <a:spcAft>
                <a:spcPts val="1430"/>
              </a:spcAft>
              <a:buClr>
                <a:srgbClr val="1B9AAA"/>
              </a:buClr>
              <a:buChar char="•"/>
            </a:pPr>
            <a:r>
              <a:rPr sz="2600" b="0" i="0">
                <a:solidFill>
                  <a:srgbClr val="222B3A"/>
                </a:solidFill>
                <a:latin typeface="Calibri"/>
              </a:rPr>
              <a:t>80/20 split is used to divide the dataset into training and testing groups.</a:t>
            </a:r>
          </a:p>
          <a:p>
            <a:pPr algn="l" marL="320040" indent="-320040">
              <a:lnSpc>
                <a:spcPct val="108000"/>
              </a:lnSpc>
              <a:spcAft>
                <a:spcPts val="1430"/>
              </a:spcAft>
              <a:buClr>
                <a:srgbClr val="1B9AAA"/>
              </a:buClr>
              <a:buChar char="•"/>
            </a:pPr>
            <a:r>
              <a:rPr sz="2600" b="0" i="0">
                <a:solidFill>
                  <a:srgbClr val="222B3A"/>
                </a:solidFill>
                <a:latin typeface="Calibri"/>
              </a:rPr>
              <a:t>6 different models are used in the proposed approach, including MLP with Intervention Analysis.</a:t>
            </a:r>
          </a:p>
          <a:p>
            <a:pPr algn="l" marL="320040" indent="-320040">
              <a:lnSpc>
                <a:spcPct val="108000"/>
              </a:lnSpc>
              <a:spcAft>
                <a:spcPts val="1430"/>
              </a:spcAft>
              <a:buClr>
                <a:srgbClr val="1B9AAA"/>
              </a:buClr>
              <a:buChar char="•"/>
            </a:pPr>
            <a:r>
              <a:rPr sz="2600" b="0" i="0">
                <a:solidFill>
                  <a:srgbClr val="222B3A"/>
                </a:solidFill>
                <a:latin typeface="Calibri"/>
              </a:rPr>
              <a:t>Mean Square Error (MSE), Root Mean Square Error (RMSE), and Mean Absolute Error (MAE) are used as evaluation metrics.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777240"/>
          </a:xfrm>
          <a:prstGeom prst="rect">
            <a:avLst/>
          </a:prstGeom>
          <a:noFill/>
        </p:spPr>
        <p:txBody>
          <a:bodyPr wrap="square" anchor="ctr" lIns="0" rIns="0" tIns="0" bIns="0">
            <a:spAutoFit/>
          </a:bodyPr>
          <a:lstStyle/>
          <a:p>
            <a:r>
              <a:rPr sz="2800" b="1" i="0">
                <a:solidFill>
                  <a:srgbClr val="14213D"/>
                </a:solidFill>
                <a:latin typeface="Calibri"/>
              </a:rPr>
              <a:t>Graph denoting forecasting before intervention</a:t>
            </a:r>
          </a:p>
        </p:txBody>
      </p:sp>
      <p:sp>
        <p:nvSpPr>
          <p:cNvPr id="4" name="Rectangle 3"/>
          <p:cNvSpPr/>
          <p:nvPr/>
        </p:nvSpPr>
        <p:spPr>
          <a:xfrm>
            <a:off x="640080" y="1261872"/>
            <a:ext cx="822960" cy="5486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0"/>
            <a:ext cx="8229600" cy="274320"/>
          </a:xfrm>
          <a:prstGeom prst="rect">
            <a:avLst/>
          </a:prstGeom>
          <a:noFill/>
        </p:spPr>
        <p:txBody>
          <a:bodyPr wrap="square" anchor="ctr" lIns="0" rIns="0" tIns="0" bIns="0">
            <a:spAutoFit/>
          </a:bodyPr>
          <a:lstStyle/>
          <a:p>
            <a:r>
              <a:rPr sz="1000" b="0" i="0">
                <a:solidFill>
                  <a:srgbClr val="6B7585"/>
                </a:solidFill>
                <a:latin typeface="Calibri"/>
              </a:rPr>
              <a:t>Intervention Analysis for Predicting Stock Market using Deep Learning Algorithms and Ti…</a:t>
            </a:r>
          </a:p>
        </p:txBody>
      </p:sp>
      <p:sp>
        <p:nvSpPr>
          <p:cNvPr id="6" name="TextBox 5"/>
          <p:cNvSpPr txBox="1"/>
          <p:nvPr/>
        </p:nvSpPr>
        <p:spPr>
          <a:xfrm>
            <a:off x="10637215" y="6400800"/>
            <a:ext cx="914400" cy="274320"/>
          </a:xfrm>
          <a:prstGeom prst="rect">
            <a:avLst/>
          </a:prstGeom>
          <a:noFill/>
        </p:spPr>
        <p:txBody>
          <a:bodyPr wrap="square" anchor="ctr" lIns="0" rIns="0" tIns="0" bIns="0">
            <a:spAutoFit/>
          </a:bodyPr>
          <a:lstStyle/>
          <a:p>
            <a:pPr algn="r"/>
            <a:r>
              <a:rPr sz="1000" b="0" i="0">
                <a:solidFill>
                  <a:srgbClr val="6B7585"/>
                </a:solidFill>
                <a:latin typeface="Calibri"/>
              </a:rPr>
              <a:t>10</a:t>
            </a:r>
          </a:p>
        </p:txBody>
      </p:sp>
      <p:sp>
        <p:nvSpPr>
          <p:cNvPr id="7" name="Rectangle 6"/>
          <p:cNvSpPr/>
          <p:nvPr/>
        </p:nvSpPr>
        <p:spPr>
          <a:xfrm>
            <a:off x="640080" y="1508760"/>
            <a:ext cx="10911535" cy="4325112"/>
          </a:xfrm>
          <a:prstGeom prst="rect">
            <a:avLst/>
          </a:prstGeom>
          <a:solidFill>
            <a:srgbClr val="F3F5F8"/>
          </a:solidFill>
          <a:ln w="9525">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age05_img1.png"/>
          <p:cNvPicPr>
            <a:picLocks noChangeAspect="1"/>
          </p:cNvPicPr>
          <p:nvPr/>
        </p:nvPicPr>
        <p:blipFill>
          <a:blip r:embed="rId2"/>
          <a:stretch>
            <a:fillRect/>
          </a:stretch>
        </p:blipFill>
        <p:spPr>
          <a:xfrm>
            <a:off x="992946" y="1645919"/>
            <a:ext cx="10205802" cy="4050791"/>
          </a:xfrm>
          <a:prstGeom prst="rect">
            <a:avLst/>
          </a:prstGeom>
        </p:spPr>
      </p:pic>
      <p:sp>
        <p:nvSpPr>
          <p:cNvPr id="9" name="TextBox 8"/>
          <p:cNvSpPr txBox="1"/>
          <p:nvPr/>
        </p:nvSpPr>
        <p:spPr>
          <a:xfrm>
            <a:off x="640080" y="5907023"/>
            <a:ext cx="10911535" cy="265176"/>
          </a:xfrm>
          <a:prstGeom prst="rect">
            <a:avLst/>
          </a:prstGeom>
          <a:noFill/>
        </p:spPr>
        <p:txBody>
          <a:bodyPr wrap="square" anchor="t" lIns="0" rIns="0" tIns="0" bIns="0">
            <a:spAutoFit/>
          </a:bodyPr>
          <a:lstStyle/>
          <a:p>
            <a:r>
              <a:rPr sz="1200" b="0" i="1">
                <a:solidFill>
                  <a:srgbClr val="6B7585"/>
                </a:solidFill>
                <a:latin typeface="Calibri"/>
              </a:rPr>
              <a:t>Fig. 2. Graph denoting forecasting before intervention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777240"/>
          </a:xfrm>
          <a:prstGeom prst="rect">
            <a:avLst/>
          </a:prstGeom>
          <a:noFill/>
        </p:spPr>
        <p:txBody>
          <a:bodyPr wrap="square" anchor="ctr" lIns="0" rIns="0" tIns="0" bIns="0">
            <a:spAutoFit/>
          </a:bodyPr>
          <a:lstStyle/>
          <a:p>
            <a:r>
              <a:rPr sz="2800" b="1" i="0">
                <a:solidFill>
                  <a:srgbClr val="14213D"/>
                </a:solidFill>
                <a:latin typeface="Calibri"/>
              </a:rPr>
              <a:t>Graph denoting forecasting after intervention</a:t>
            </a:r>
          </a:p>
        </p:txBody>
      </p:sp>
      <p:sp>
        <p:nvSpPr>
          <p:cNvPr id="4" name="Rectangle 3"/>
          <p:cNvSpPr/>
          <p:nvPr/>
        </p:nvSpPr>
        <p:spPr>
          <a:xfrm>
            <a:off x="640080" y="1261872"/>
            <a:ext cx="822960" cy="5486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0"/>
            <a:ext cx="8229600" cy="274320"/>
          </a:xfrm>
          <a:prstGeom prst="rect">
            <a:avLst/>
          </a:prstGeom>
          <a:noFill/>
        </p:spPr>
        <p:txBody>
          <a:bodyPr wrap="square" anchor="ctr" lIns="0" rIns="0" tIns="0" bIns="0">
            <a:spAutoFit/>
          </a:bodyPr>
          <a:lstStyle/>
          <a:p>
            <a:r>
              <a:rPr sz="1000" b="0" i="0">
                <a:solidFill>
                  <a:srgbClr val="6B7585"/>
                </a:solidFill>
                <a:latin typeface="Calibri"/>
              </a:rPr>
              <a:t>Intervention Analysis for Predicting Stock Market using Deep Learning Algorithms and Ti…</a:t>
            </a:r>
          </a:p>
        </p:txBody>
      </p:sp>
      <p:sp>
        <p:nvSpPr>
          <p:cNvPr id="6" name="TextBox 5"/>
          <p:cNvSpPr txBox="1"/>
          <p:nvPr/>
        </p:nvSpPr>
        <p:spPr>
          <a:xfrm>
            <a:off x="10637215" y="6400800"/>
            <a:ext cx="914400" cy="274320"/>
          </a:xfrm>
          <a:prstGeom prst="rect">
            <a:avLst/>
          </a:prstGeom>
          <a:noFill/>
        </p:spPr>
        <p:txBody>
          <a:bodyPr wrap="square" anchor="ctr" lIns="0" rIns="0" tIns="0" bIns="0">
            <a:spAutoFit/>
          </a:bodyPr>
          <a:lstStyle/>
          <a:p>
            <a:pPr algn="r"/>
            <a:r>
              <a:rPr sz="1000" b="0" i="0">
                <a:solidFill>
                  <a:srgbClr val="6B7585"/>
                </a:solidFill>
                <a:latin typeface="Calibri"/>
              </a:rPr>
              <a:t>11</a:t>
            </a:r>
          </a:p>
        </p:txBody>
      </p:sp>
      <p:sp>
        <p:nvSpPr>
          <p:cNvPr id="7" name="Rectangle 6"/>
          <p:cNvSpPr/>
          <p:nvPr/>
        </p:nvSpPr>
        <p:spPr>
          <a:xfrm>
            <a:off x="640080" y="1508760"/>
            <a:ext cx="10911535" cy="4325112"/>
          </a:xfrm>
          <a:prstGeom prst="rect">
            <a:avLst/>
          </a:prstGeom>
          <a:solidFill>
            <a:srgbClr val="F3F5F8"/>
          </a:solidFill>
          <a:ln w="9525">
            <a:solidFill>
              <a:srgbClr val="D9DE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age05_img2.png"/>
          <p:cNvPicPr>
            <a:picLocks noChangeAspect="1"/>
          </p:cNvPicPr>
          <p:nvPr/>
        </p:nvPicPr>
        <p:blipFill>
          <a:blip r:embed="rId2"/>
          <a:stretch>
            <a:fillRect/>
          </a:stretch>
        </p:blipFill>
        <p:spPr>
          <a:xfrm>
            <a:off x="1052679" y="1645919"/>
            <a:ext cx="10086336" cy="4050791"/>
          </a:xfrm>
          <a:prstGeom prst="rect">
            <a:avLst/>
          </a:prstGeom>
        </p:spPr>
      </p:pic>
      <p:sp>
        <p:nvSpPr>
          <p:cNvPr id="9" name="TextBox 8"/>
          <p:cNvSpPr txBox="1"/>
          <p:nvPr/>
        </p:nvSpPr>
        <p:spPr>
          <a:xfrm>
            <a:off x="640080" y="5907023"/>
            <a:ext cx="10911535" cy="265176"/>
          </a:xfrm>
          <a:prstGeom prst="rect">
            <a:avLst/>
          </a:prstGeom>
          <a:noFill/>
        </p:spPr>
        <p:txBody>
          <a:bodyPr wrap="square" anchor="t" lIns="0" rIns="0" tIns="0" bIns="0">
            <a:spAutoFit/>
          </a:bodyPr>
          <a:lstStyle/>
          <a:p>
            <a:r>
              <a:rPr sz="1200" b="0" i="1">
                <a:solidFill>
                  <a:srgbClr val="6B7585"/>
                </a:solidFill>
                <a:latin typeface="Calibri"/>
              </a:rPr>
              <a:t>Fig. 3. Graph denoting forecasting after intervention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777240"/>
          </a:xfrm>
          <a:prstGeom prst="rect">
            <a:avLst/>
          </a:prstGeom>
          <a:noFill/>
        </p:spPr>
        <p:txBody>
          <a:bodyPr wrap="square" anchor="ctr" lIns="0" rIns="0" tIns="0" bIns="0">
            <a:spAutoFit/>
          </a:bodyPr>
          <a:lstStyle/>
          <a:p>
            <a:r>
              <a:rPr sz="3400" b="1" i="0">
                <a:solidFill>
                  <a:srgbClr val="14213D"/>
                </a:solidFill>
                <a:latin typeface="Calibri"/>
              </a:rPr>
              <a:t>Applications</a:t>
            </a:r>
          </a:p>
        </p:txBody>
      </p:sp>
      <p:sp>
        <p:nvSpPr>
          <p:cNvPr id="4" name="Rectangle 3"/>
          <p:cNvSpPr/>
          <p:nvPr/>
        </p:nvSpPr>
        <p:spPr>
          <a:xfrm>
            <a:off x="640080" y="1261872"/>
            <a:ext cx="822960" cy="5486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0"/>
            <a:ext cx="8229600" cy="274320"/>
          </a:xfrm>
          <a:prstGeom prst="rect">
            <a:avLst/>
          </a:prstGeom>
          <a:noFill/>
        </p:spPr>
        <p:txBody>
          <a:bodyPr wrap="square" anchor="ctr" lIns="0" rIns="0" tIns="0" bIns="0">
            <a:spAutoFit/>
          </a:bodyPr>
          <a:lstStyle/>
          <a:p>
            <a:r>
              <a:rPr sz="1000" b="0" i="0">
                <a:solidFill>
                  <a:srgbClr val="6B7585"/>
                </a:solidFill>
                <a:latin typeface="Calibri"/>
              </a:rPr>
              <a:t>Intervention Analysis for Predicting Stock Market using Deep Learning Algorithms and Ti…</a:t>
            </a:r>
          </a:p>
        </p:txBody>
      </p:sp>
      <p:sp>
        <p:nvSpPr>
          <p:cNvPr id="6" name="TextBox 5"/>
          <p:cNvSpPr txBox="1"/>
          <p:nvPr/>
        </p:nvSpPr>
        <p:spPr>
          <a:xfrm>
            <a:off x="10637215" y="6400800"/>
            <a:ext cx="914400" cy="274320"/>
          </a:xfrm>
          <a:prstGeom prst="rect">
            <a:avLst/>
          </a:prstGeom>
          <a:noFill/>
        </p:spPr>
        <p:txBody>
          <a:bodyPr wrap="square" anchor="ctr" lIns="0" rIns="0" tIns="0" bIns="0">
            <a:spAutoFit/>
          </a:bodyPr>
          <a:lstStyle/>
          <a:p>
            <a:pPr algn="r"/>
            <a:r>
              <a:rPr sz="1000" b="0" i="0">
                <a:solidFill>
                  <a:srgbClr val="6B7585"/>
                </a:solidFill>
                <a:latin typeface="Calibri"/>
              </a:rPr>
              <a:t>12</a:t>
            </a:r>
          </a:p>
        </p:txBody>
      </p:sp>
      <p:sp>
        <p:nvSpPr>
          <p:cNvPr id="7" name="TextBox 6"/>
          <p:cNvSpPr txBox="1"/>
          <p:nvPr/>
        </p:nvSpPr>
        <p:spPr>
          <a:xfrm>
            <a:off x="640080" y="1600200"/>
            <a:ext cx="10911535" cy="4572000"/>
          </a:xfrm>
          <a:prstGeom prst="rect">
            <a:avLst/>
          </a:prstGeom>
          <a:noFill/>
        </p:spPr>
        <p:txBody>
          <a:bodyPr wrap="square" anchor="t" lIns="0" rIns="0" tIns="0" bIns="0">
            <a:spAutoFit/>
          </a:bodyPr>
          <a:lstStyle/>
          <a:p>
            <a:pPr algn="l" marL="320040" indent="-320040">
              <a:lnSpc>
                <a:spcPct val="108000"/>
              </a:lnSpc>
              <a:spcAft>
                <a:spcPts val="1430"/>
              </a:spcAft>
              <a:buClr>
                <a:srgbClr val="1B9AAA"/>
              </a:buClr>
              <a:buChar char="•"/>
            </a:pPr>
            <a:r>
              <a:rPr sz="2600" b="0" i="0">
                <a:solidFill>
                  <a:srgbClr val="222B3A"/>
                </a:solidFill>
                <a:latin typeface="Calibri"/>
              </a:rPr>
              <a:t>Intervention analysis can be applied to capture real-world complexities associated with unexpected market dynamics.</a:t>
            </a:r>
          </a:p>
          <a:p>
            <a:pPr algn="l" marL="320040" indent="-320040">
              <a:lnSpc>
                <a:spcPct val="108000"/>
              </a:lnSpc>
              <a:spcAft>
                <a:spcPts val="1430"/>
              </a:spcAft>
              <a:buClr>
                <a:srgbClr val="1B9AAA"/>
              </a:buClr>
              <a:buChar char="•"/>
            </a:pPr>
            <a:r>
              <a:rPr sz="2600" b="0" i="0">
                <a:solidFill>
                  <a:srgbClr val="222B3A"/>
                </a:solidFill>
                <a:latin typeface="Calibri"/>
              </a:rPr>
              <a:t>Advanced recurrent neural network topologies, such as long short-term memory (LSTM) networks, can improve temporal modelling.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777240"/>
          </a:xfrm>
          <a:prstGeom prst="rect">
            <a:avLst/>
          </a:prstGeom>
          <a:noFill/>
        </p:spPr>
        <p:txBody>
          <a:bodyPr wrap="square" anchor="ctr" lIns="0" rIns="0" tIns="0" bIns="0">
            <a:spAutoFit/>
          </a:bodyPr>
          <a:lstStyle/>
          <a:p>
            <a:r>
              <a:rPr sz="3400" b="1" i="0">
                <a:solidFill>
                  <a:srgbClr val="14213D"/>
                </a:solidFill>
                <a:latin typeface="Calibri"/>
              </a:rPr>
              <a:t>Challenges &amp; Limitations</a:t>
            </a:r>
          </a:p>
        </p:txBody>
      </p:sp>
      <p:sp>
        <p:nvSpPr>
          <p:cNvPr id="4" name="Rectangle 3"/>
          <p:cNvSpPr/>
          <p:nvPr/>
        </p:nvSpPr>
        <p:spPr>
          <a:xfrm>
            <a:off x="640080" y="1261872"/>
            <a:ext cx="822960" cy="5486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0"/>
            <a:ext cx="8229600" cy="274320"/>
          </a:xfrm>
          <a:prstGeom prst="rect">
            <a:avLst/>
          </a:prstGeom>
          <a:noFill/>
        </p:spPr>
        <p:txBody>
          <a:bodyPr wrap="square" anchor="ctr" lIns="0" rIns="0" tIns="0" bIns="0">
            <a:spAutoFit/>
          </a:bodyPr>
          <a:lstStyle/>
          <a:p>
            <a:r>
              <a:rPr sz="1000" b="0" i="0">
                <a:solidFill>
                  <a:srgbClr val="6B7585"/>
                </a:solidFill>
                <a:latin typeface="Calibri"/>
              </a:rPr>
              <a:t>Intervention Analysis for Predicting Stock Market using Deep Learning Algorithms and Ti…</a:t>
            </a:r>
          </a:p>
        </p:txBody>
      </p:sp>
      <p:sp>
        <p:nvSpPr>
          <p:cNvPr id="6" name="TextBox 5"/>
          <p:cNvSpPr txBox="1"/>
          <p:nvPr/>
        </p:nvSpPr>
        <p:spPr>
          <a:xfrm>
            <a:off x="10637215" y="6400800"/>
            <a:ext cx="914400" cy="274320"/>
          </a:xfrm>
          <a:prstGeom prst="rect">
            <a:avLst/>
          </a:prstGeom>
          <a:noFill/>
        </p:spPr>
        <p:txBody>
          <a:bodyPr wrap="square" anchor="ctr" lIns="0" rIns="0" tIns="0" bIns="0">
            <a:spAutoFit/>
          </a:bodyPr>
          <a:lstStyle/>
          <a:p>
            <a:pPr algn="r"/>
            <a:r>
              <a:rPr sz="1000" b="0" i="0">
                <a:solidFill>
                  <a:srgbClr val="6B7585"/>
                </a:solidFill>
                <a:latin typeface="Calibri"/>
              </a:rPr>
              <a:t>13</a:t>
            </a:r>
          </a:p>
        </p:txBody>
      </p:sp>
      <p:sp>
        <p:nvSpPr>
          <p:cNvPr id="7" name="TextBox 6"/>
          <p:cNvSpPr txBox="1"/>
          <p:nvPr/>
        </p:nvSpPr>
        <p:spPr>
          <a:xfrm>
            <a:off x="640080" y="1600200"/>
            <a:ext cx="10911535" cy="4572000"/>
          </a:xfrm>
          <a:prstGeom prst="rect">
            <a:avLst/>
          </a:prstGeom>
          <a:noFill/>
        </p:spPr>
        <p:txBody>
          <a:bodyPr wrap="square" anchor="t" lIns="0" rIns="0" tIns="0" bIns="0">
            <a:spAutoFit/>
          </a:bodyPr>
          <a:lstStyle/>
          <a:p>
            <a:pPr algn="l" marL="320040" indent="-320040">
              <a:lnSpc>
                <a:spcPct val="108000"/>
              </a:lnSpc>
              <a:spcAft>
                <a:spcPts val="1430"/>
              </a:spcAft>
              <a:buClr>
                <a:srgbClr val="1B9AAA"/>
              </a:buClr>
              <a:buChar char="•"/>
            </a:pPr>
            <a:r>
              <a:rPr sz="2600" b="0" i="0">
                <a:solidFill>
                  <a:srgbClr val="222B3A"/>
                </a:solidFill>
                <a:latin typeface="Calibri"/>
              </a:rPr>
              <a:t>Predicting stock prices is a difficult endeavour because the markets are unpredictable.</a:t>
            </a:r>
          </a:p>
          <a:p>
            <a:pPr algn="l" marL="320040" indent="-320040">
              <a:lnSpc>
                <a:spcPct val="108000"/>
              </a:lnSpc>
              <a:spcAft>
                <a:spcPts val="1430"/>
              </a:spcAft>
              <a:buClr>
                <a:srgbClr val="1B9AAA"/>
              </a:buClr>
              <a:buChar char="•"/>
            </a:pPr>
            <a:r>
              <a:rPr sz="2600" b="0" i="0">
                <a:solidFill>
                  <a:srgbClr val="222B3A"/>
                </a:solidFill>
                <a:latin typeface="Calibri"/>
              </a:rPr>
              <a:t>Precise value estimates require the understanding of stock values in terms of movements that are derived from historical data.</a:t>
            </a:r>
          </a:p>
          <a:p>
            <a:pPr algn="l" marL="320040" indent="-320040">
              <a:lnSpc>
                <a:spcPct val="108000"/>
              </a:lnSpc>
              <a:spcAft>
                <a:spcPts val="1430"/>
              </a:spcAft>
              <a:buClr>
                <a:srgbClr val="1B9AAA"/>
              </a:buClr>
              <a:buChar char="•"/>
            </a:pPr>
            <a:r>
              <a:rPr sz="2600" b="0" i="0">
                <a:solidFill>
                  <a:srgbClr val="222B3A"/>
                </a:solidFill>
                <a:latin typeface="Calibri"/>
              </a:rPr>
              <a:t>The stock market is intricate and volatile, posing challenges for classical Time Series Analysis techniques.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777240"/>
          </a:xfrm>
          <a:prstGeom prst="rect">
            <a:avLst/>
          </a:prstGeom>
          <a:noFill/>
        </p:spPr>
        <p:txBody>
          <a:bodyPr wrap="square" anchor="ctr" lIns="0" rIns="0" tIns="0" bIns="0">
            <a:spAutoFit/>
          </a:bodyPr>
          <a:lstStyle/>
          <a:p>
            <a:r>
              <a:rPr sz="3400" b="1" i="0">
                <a:solidFill>
                  <a:srgbClr val="14213D"/>
                </a:solidFill>
                <a:latin typeface="Calibri"/>
              </a:rPr>
              <a:t>Future Scope</a:t>
            </a:r>
          </a:p>
        </p:txBody>
      </p:sp>
      <p:sp>
        <p:nvSpPr>
          <p:cNvPr id="4" name="Rectangle 3"/>
          <p:cNvSpPr/>
          <p:nvPr/>
        </p:nvSpPr>
        <p:spPr>
          <a:xfrm>
            <a:off x="640080" y="1261872"/>
            <a:ext cx="822960" cy="5486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0"/>
            <a:ext cx="8229600" cy="274320"/>
          </a:xfrm>
          <a:prstGeom prst="rect">
            <a:avLst/>
          </a:prstGeom>
          <a:noFill/>
        </p:spPr>
        <p:txBody>
          <a:bodyPr wrap="square" anchor="ctr" lIns="0" rIns="0" tIns="0" bIns="0">
            <a:spAutoFit/>
          </a:bodyPr>
          <a:lstStyle/>
          <a:p>
            <a:r>
              <a:rPr sz="1000" b="0" i="0">
                <a:solidFill>
                  <a:srgbClr val="6B7585"/>
                </a:solidFill>
                <a:latin typeface="Calibri"/>
              </a:rPr>
              <a:t>Intervention Analysis for Predicting Stock Market using Deep Learning Algorithms and Ti…</a:t>
            </a:r>
          </a:p>
        </p:txBody>
      </p:sp>
      <p:sp>
        <p:nvSpPr>
          <p:cNvPr id="6" name="TextBox 5"/>
          <p:cNvSpPr txBox="1"/>
          <p:nvPr/>
        </p:nvSpPr>
        <p:spPr>
          <a:xfrm>
            <a:off x="10637215" y="6400800"/>
            <a:ext cx="914400" cy="274320"/>
          </a:xfrm>
          <a:prstGeom prst="rect">
            <a:avLst/>
          </a:prstGeom>
          <a:noFill/>
        </p:spPr>
        <p:txBody>
          <a:bodyPr wrap="square" anchor="ctr" lIns="0" rIns="0" tIns="0" bIns="0">
            <a:spAutoFit/>
          </a:bodyPr>
          <a:lstStyle/>
          <a:p>
            <a:pPr algn="r"/>
            <a:r>
              <a:rPr sz="1000" b="0" i="0">
                <a:solidFill>
                  <a:srgbClr val="6B7585"/>
                </a:solidFill>
                <a:latin typeface="Calibri"/>
              </a:rPr>
              <a:t>14</a:t>
            </a:r>
          </a:p>
        </p:txBody>
      </p:sp>
      <p:sp>
        <p:nvSpPr>
          <p:cNvPr id="7" name="TextBox 6"/>
          <p:cNvSpPr txBox="1"/>
          <p:nvPr/>
        </p:nvSpPr>
        <p:spPr>
          <a:xfrm>
            <a:off x="640080" y="1600200"/>
            <a:ext cx="10911535" cy="4572000"/>
          </a:xfrm>
          <a:prstGeom prst="rect">
            <a:avLst/>
          </a:prstGeom>
          <a:noFill/>
        </p:spPr>
        <p:txBody>
          <a:bodyPr wrap="square" anchor="t" lIns="0" rIns="0" tIns="0" bIns="0">
            <a:spAutoFit/>
          </a:bodyPr>
          <a:lstStyle/>
          <a:p>
            <a:pPr algn="l" marL="320040" indent="-320040">
              <a:lnSpc>
                <a:spcPct val="108000"/>
              </a:lnSpc>
              <a:spcAft>
                <a:spcPts val="1430"/>
              </a:spcAft>
              <a:buClr>
                <a:srgbClr val="1B9AAA"/>
              </a:buClr>
              <a:buChar char="•"/>
            </a:pPr>
            <a:r>
              <a:rPr sz="2600" b="0" i="0">
                <a:solidFill>
                  <a:srgbClr val="222B3A"/>
                </a:solidFill>
                <a:latin typeface="Calibri"/>
              </a:rPr>
              <a:t>The authors plan to integrate the Q Network (Q Net) with intervention-awareness into their predictive models.</a:t>
            </a:r>
          </a:p>
          <a:p>
            <a:pPr algn="l" marL="320040" indent="-320040">
              <a:lnSpc>
                <a:spcPct val="108000"/>
              </a:lnSpc>
              <a:spcAft>
                <a:spcPts val="1430"/>
              </a:spcAft>
              <a:buClr>
                <a:srgbClr val="1B9AAA"/>
              </a:buClr>
              <a:buChar char="•"/>
            </a:pPr>
            <a:r>
              <a:rPr sz="2600" b="0" i="0">
                <a:solidFill>
                  <a:srgbClr val="222B3A"/>
                </a:solidFill>
                <a:latin typeface="Calibri"/>
              </a:rPr>
              <a:t>They will explore the use of the RNN model to handle nonlinear dynamics in stock price prediction.</a:t>
            </a:r>
          </a:p>
          <a:p>
            <a:pPr algn="l" marL="320040" indent="-320040">
              <a:lnSpc>
                <a:spcPct val="108000"/>
              </a:lnSpc>
              <a:spcAft>
                <a:spcPts val="1430"/>
              </a:spcAft>
              <a:buClr>
                <a:srgbClr val="1B9AAA"/>
              </a:buClr>
              <a:buChar char="•"/>
            </a:pPr>
            <a:r>
              <a:rPr sz="2600" b="0" i="0">
                <a:solidFill>
                  <a:srgbClr val="222B3A"/>
                </a:solidFill>
                <a:latin typeface="Calibri"/>
              </a:rPr>
              <a:t>The researchers aim to improve the performance of their models by leveraging historical trends and consecutive patterns.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11535" cy="777240"/>
          </a:xfrm>
          <a:prstGeom prst="rect">
            <a:avLst/>
          </a:prstGeom>
          <a:noFill/>
        </p:spPr>
        <p:txBody>
          <a:bodyPr wrap="square" anchor="ctr" lIns="0" rIns="0" tIns="0" bIns="0">
            <a:spAutoFit/>
          </a:bodyPr>
          <a:lstStyle/>
          <a:p>
            <a:r>
              <a:rPr sz="3400" b="1" i="0">
                <a:solidFill>
                  <a:srgbClr val="14213D"/>
                </a:solidFill>
                <a:latin typeface="Calibri"/>
              </a:rPr>
              <a:t>Conclusion</a:t>
            </a:r>
          </a:p>
        </p:txBody>
      </p:sp>
      <p:sp>
        <p:nvSpPr>
          <p:cNvPr id="4" name="Rectangle 3"/>
          <p:cNvSpPr/>
          <p:nvPr/>
        </p:nvSpPr>
        <p:spPr>
          <a:xfrm>
            <a:off x="640080" y="1261872"/>
            <a:ext cx="822960" cy="5486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400800"/>
            <a:ext cx="8229600" cy="274320"/>
          </a:xfrm>
          <a:prstGeom prst="rect">
            <a:avLst/>
          </a:prstGeom>
          <a:noFill/>
        </p:spPr>
        <p:txBody>
          <a:bodyPr wrap="square" anchor="ctr" lIns="0" rIns="0" tIns="0" bIns="0">
            <a:spAutoFit/>
          </a:bodyPr>
          <a:lstStyle/>
          <a:p>
            <a:r>
              <a:rPr sz="1000" b="0" i="0">
                <a:solidFill>
                  <a:srgbClr val="6B7585"/>
                </a:solidFill>
                <a:latin typeface="Calibri"/>
              </a:rPr>
              <a:t>Intervention Analysis for Predicting Stock Market using Deep Learning Algorithms and Ti…</a:t>
            </a:r>
          </a:p>
        </p:txBody>
      </p:sp>
      <p:sp>
        <p:nvSpPr>
          <p:cNvPr id="6" name="TextBox 5"/>
          <p:cNvSpPr txBox="1"/>
          <p:nvPr/>
        </p:nvSpPr>
        <p:spPr>
          <a:xfrm>
            <a:off x="10637215" y="6400800"/>
            <a:ext cx="914400" cy="274320"/>
          </a:xfrm>
          <a:prstGeom prst="rect">
            <a:avLst/>
          </a:prstGeom>
          <a:noFill/>
        </p:spPr>
        <p:txBody>
          <a:bodyPr wrap="square" anchor="ctr" lIns="0" rIns="0" tIns="0" bIns="0">
            <a:spAutoFit/>
          </a:bodyPr>
          <a:lstStyle/>
          <a:p>
            <a:pPr algn="r"/>
            <a:r>
              <a:rPr sz="1000" b="0" i="0">
                <a:solidFill>
                  <a:srgbClr val="6B7585"/>
                </a:solidFill>
                <a:latin typeface="Calibri"/>
              </a:rPr>
              <a:t>15</a:t>
            </a:r>
          </a:p>
        </p:txBody>
      </p:sp>
      <p:sp>
        <p:nvSpPr>
          <p:cNvPr id="7" name="TextBox 6"/>
          <p:cNvSpPr txBox="1"/>
          <p:nvPr/>
        </p:nvSpPr>
        <p:spPr>
          <a:xfrm>
            <a:off x="640080" y="1600200"/>
            <a:ext cx="10911535" cy="4572000"/>
          </a:xfrm>
          <a:prstGeom prst="rect">
            <a:avLst/>
          </a:prstGeom>
          <a:noFill/>
        </p:spPr>
        <p:txBody>
          <a:bodyPr wrap="square" anchor="t" lIns="0" rIns="0" tIns="0" bIns="0">
            <a:spAutoFit/>
          </a:bodyPr>
          <a:lstStyle/>
          <a:p>
            <a:pPr algn="l" marL="320040" indent="-320040">
              <a:lnSpc>
                <a:spcPct val="108000"/>
              </a:lnSpc>
              <a:spcAft>
                <a:spcPts val="1430"/>
              </a:spcAft>
              <a:buClr>
                <a:srgbClr val="1B9AAA"/>
              </a:buClr>
              <a:buChar char="•"/>
            </a:pPr>
            <a:r>
              <a:rPr sz="2600" b="0" i="0">
                <a:solidFill>
                  <a:srgbClr val="222B3A"/>
                </a:solidFill>
                <a:latin typeface="Calibri"/>
              </a:rPr>
              <a:t>Deep Learning models, specifically Recurrent Neural Network (RNN), performed better than other models.</a:t>
            </a:r>
          </a:p>
          <a:p>
            <a:pPr algn="l" marL="320040" indent="-320040">
              <a:lnSpc>
                <a:spcPct val="108000"/>
              </a:lnSpc>
              <a:spcAft>
                <a:spcPts val="1430"/>
              </a:spcAft>
              <a:buClr>
                <a:srgbClr val="1B9AAA"/>
              </a:buClr>
              <a:buChar char="•"/>
            </a:pPr>
            <a:r>
              <a:rPr sz="2600" b="0" i="0">
                <a:solidFill>
                  <a:srgbClr val="222B3A"/>
                </a:solidFill>
                <a:latin typeface="Calibri"/>
              </a:rPr>
              <a:t>RNN outperformed other models on Mean Squared Error (MSE) for Tesla and IBM data.</a:t>
            </a:r>
          </a:p>
          <a:p>
            <a:pPr algn="l" marL="320040" indent="-320040">
              <a:lnSpc>
                <a:spcPct val="108000"/>
              </a:lnSpc>
              <a:spcAft>
                <a:spcPts val="1430"/>
              </a:spcAft>
              <a:buClr>
                <a:srgbClr val="1B9AAA"/>
              </a:buClr>
              <a:buChar char="•"/>
            </a:pPr>
            <a:r>
              <a:rPr sz="2600" b="0" i="0">
                <a:solidFill>
                  <a:srgbClr val="222B3A"/>
                </a:solidFill>
                <a:latin typeface="Calibri"/>
              </a:rPr>
              <a:t>The study's main goal was to determine the parameters for the ARIMA model and evaluate its performance.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Rectangle 1"/>
          <p:cNvSpPr/>
          <p:nvPr/>
        </p:nvSpPr>
        <p:spPr>
          <a:xfrm>
            <a:off x="640080" y="2651760"/>
            <a:ext cx="1005840" cy="73152"/>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880360"/>
            <a:ext cx="10911535" cy="1097280"/>
          </a:xfrm>
          <a:prstGeom prst="rect">
            <a:avLst/>
          </a:prstGeom>
          <a:noFill/>
        </p:spPr>
        <p:txBody>
          <a:bodyPr wrap="square" anchor="t" lIns="0" rIns="0" tIns="0" bIns="0">
            <a:spAutoFit/>
          </a:bodyPr>
          <a:lstStyle/>
          <a:p>
            <a:r>
              <a:rPr sz="4800" b="1" i="0">
                <a:solidFill>
                  <a:srgbClr val="FFFFFF"/>
                </a:solidFill>
                <a:latin typeface="Calibri"/>
              </a:rPr>
              <a:t>Thank you</a:t>
            </a:r>
          </a:p>
        </p:txBody>
      </p:sp>
      <p:sp>
        <p:nvSpPr>
          <p:cNvPr id="4" name="TextBox 3"/>
          <p:cNvSpPr txBox="1"/>
          <p:nvPr/>
        </p:nvSpPr>
        <p:spPr>
          <a:xfrm>
            <a:off x="640080" y="3931920"/>
            <a:ext cx="10911535" cy="548640"/>
          </a:xfrm>
          <a:prstGeom prst="rect">
            <a:avLst/>
          </a:prstGeom>
          <a:noFill/>
        </p:spPr>
        <p:txBody>
          <a:bodyPr wrap="square" anchor="t" lIns="0" rIns="0" tIns="0" bIns="0">
            <a:spAutoFit/>
          </a:bodyPr>
          <a:lstStyle/>
          <a:p>
            <a:r>
              <a:rPr sz="2200" b="0" i="0">
                <a:solidFill>
                  <a:srgbClr val="B8E3E9"/>
                </a:solidFill>
                <a:latin typeface="Calibri"/>
              </a:rPr>
              <a:t>Questions &amp;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Intervention Analysis for Predicting Stock Market using Deep Learning Algorithms and Time Series Analysis</dc:title>
  <dc:subject>Automated summary of Stock_Market_Prediction.pdf</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