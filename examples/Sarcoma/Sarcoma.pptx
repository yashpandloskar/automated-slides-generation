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Sarcomas are a rare and complex type of cancer that affects connective tissues. They are aggressive and difficult to diagnose, making them a significant challenge in clinical oncology. The rarity and complexity of sarcomas highlight the need for more accurate and objective approaches to classification and diagnosis.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paper focuses on the application of machine learning to sarcoma classification. The authors aim to improve diagnostic procedures by leveraging genomic data. They use a variety of machine learning algorithms, including support vector machines, random forests, and deep learning networks. The dataset used is a rich source of information, comprising genomic alterations, transcriptomic data, epigenomic data, proteomic data, and clinical data. The authors' approach has the potential to improve our understanding of sarcoma heterogeneity and identify new opportunities for treatment.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methodology involves using a specific dataset from cBioPortal to train machine learning models. These models include SVM, random forests, and deep learning networks. The approach also involves exploratory data analysis and dimensionality reduction to prepare the data for classification.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image is a flowchart that outlines a process or system, with various steps and decision points connected by arrows, and it appears to be related to a scientific or technical field, possibly involving data analysis, machine learning, or a similar process.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image is a flowchart that outlines a process for cancer research, including steps such as searching for base learners, optimizing the training data, and testing the model on a validation set. The flowchart also includes a section for data encoding and a separate section for model classification. It is a visual representation of a scientific or technical process, with boxes and arrows connecting the different steps.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study employed a stacking super classifier with XGBoost, LightGBM, and Random Forest, achieving high accuracy and precision. The models demonstrated strong performance in classifying various types of mutations, including Frameshift, Inframe, and Variants. The results provide a baseline for future studies and can be used in conjunction with modern deployment tools for cancer classification.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stacking classifier outperformed other models, achieving high accuracy rates. The performance of other models, such as Naive Bayes and AdaBoost, was significantly lower. The dataset used in the study consisted of 801 samples from four different cancer types.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work has the potential to change cancer diagnosis forever by providing more accurate classification and personalized treatment modalities. The proposed framework can be applied to other rare complex cancers, and the models can be used in clinical settings to improve diagnosis and treatment. Further research is needed to refine the approach and ensure reliability, but the possibilities for impact are significant.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proposed study acknowledges several limitations and open challenges in sarcoma classification. Managing high-dimensional genomic data and selecting relevant features consistently is a significant challenge. Additionally, models may perform well on training data but poorly on unseen data, especially with limited sample sizes. Inconsistent model building procedures and evaluation metrics across studies also hinder reproducibility. These challenges highlight the need for further research and development in this area.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authors propose to take their research to the next level by testing the models' performance in real-world settings, refining their approach to better handle rare cases, and exploring its potential applications in Pan-Cancer classification. This will involve collecting and analyzing data from different clinical settings to assess the models' generalizability and consistency. By doing so, they aim to improve the accuracy and reliability of their models and ultimately contribute to more effective cancer diagnosis and treatment.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proposed model's high accuracy and ability to handle class imbalance make it a valuable tool for sarcoma diagnosis. The Stacking Classifier's performance highlights its potential for improving diagnostic accuracy. This research contributes to the field of precision oncology by providing a more accurate and efficient method for sarcoma classification.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213D"/>
        </a:solidFill>
        <a:effectLst/>
      </p:bgPr>
    </p:bg>
    <p:spTree>
      <p:nvGrpSpPr>
        <p:cNvPr id="1" name=""/>
        <p:cNvGrpSpPr/>
        <p:nvPr/>
      </p:nvGrpSpPr>
      <p:grpSpPr/>
      <p:sp>
        <p:nvSpPr>
          <p:cNvPr id="2" name="Rectangle 1"/>
          <p:cNvSpPr/>
          <p:nvPr/>
        </p:nvSpPr>
        <p:spPr>
          <a:xfrm>
            <a:off x="640080" y="1874519"/>
            <a:ext cx="1005840" cy="73152"/>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103120"/>
            <a:ext cx="9997135" cy="2194560"/>
          </a:xfrm>
          <a:prstGeom prst="rect">
            <a:avLst/>
          </a:prstGeom>
          <a:noFill/>
        </p:spPr>
        <p:txBody>
          <a:bodyPr wrap="square" anchor="t" lIns="0" rIns="0" tIns="0" bIns="0">
            <a:spAutoFit/>
          </a:bodyPr>
          <a:lstStyle/>
          <a:p>
            <a:r>
              <a:rPr sz="3200" b="1" i="0">
                <a:solidFill>
                  <a:srgbClr val="FFFFFF"/>
                </a:solidFill>
                <a:latin typeface="Calibri"/>
              </a:rPr>
              <a:t>Classification of Sarcoma Based on Genomic Data Using Machine Learning Models</a:t>
            </a:r>
          </a:p>
        </p:txBody>
      </p:sp>
      <p:sp>
        <p:nvSpPr>
          <p:cNvPr id="4" name="TextBox 3"/>
          <p:cNvSpPr txBox="1"/>
          <p:nvPr/>
        </p:nvSpPr>
        <p:spPr>
          <a:xfrm>
            <a:off x="640080" y="4434840"/>
            <a:ext cx="9082735" cy="914400"/>
          </a:xfrm>
          <a:prstGeom prst="rect">
            <a:avLst/>
          </a:prstGeom>
          <a:noFill/>
        </p:spPr>
        <p:txBody>
          <a:bodyPr wrap="square" anchor="t" lIns="0" rIns="0" tIns="0" bIns="0">
            <a:spAutoFit/>
          </a:bodyPr>
          <a:lstStyle/>
          <a:p>
            <a:r>
              <a:rPr sz="2000" b="0" i="0">
                <a:solidFill>
                  <a:srgbClr val="B8E3E9"/>
                </a:solidFill>
                <a:latin typeface="Calibri"/>
              </a:rPr>
              <a:t>This paper proposes a machine-learnt classification approach for soft tissue sarcoma based on genomics data.</a:t>
            </a:r>
          </a:p>
        </p:txBody>
      </p:sp>
      <p:sp>
        <p:nvSpPr>
          <p:cNvPr id="5" name="TextBox 4"/>
          <p:cNvSpPr txBox="1"/>
          <p:nvPr/>
        </p:nvSpPr>
        <p:spPr>
          <a:xfrm>
            <a:off x="640080" y="6126480"/>
            <a:ext cx="8229600" cy="320040"/>
          </a:xfrm>
          <a:prstGeom prst="rect">
            <a:avLst/>
          </a:prstGeom>
          <a:noFill/>
        </p:spPr>
        <p:txBody>
          <a:bodyPr wrap="square" anchor="t" lIns="0" rIns="0" tIns="0" bIns="0">
            <a:spAutoFit/>
          </a:bodyPr>
          <a:lstStyle/>
          <a:p>
            <a:r>
              <a:rPr sz="1200" b="0" i="0">
                <a:solidFill>
                  <a:srgbClr val="9AA5B8"/>
                </a:solidFill>
                <a:latin typeface="Calibri"/>
              </a:rPr>
              <a:t>Automated summary of Sarcoma.pdf</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11535" cy="777240"/>
          </a:xfrm>
          <a:prstGeom prst="rect">
            <a:avLst/>
          </a:prstGeom>
          <a:noFill/>
        </p:spPr>
        <p:txBody>
          <a:bodyPr wrap="square" anchor="ctr" lIns="0" rIns="0" tIns="0" bIns="0">
            <a:spAutoFit/>
          </a:bodyPr>
          <a:lstStyle/>
          <a:p>
            <a:r>
              <a:rPr sz="3400" b="1" i="0">
                <a:solidFill>
                  <a:srgbClr val="14213D"/>
                </a:solidFill>
                <a:latin typeface="Calibri"/>
              </a:rPr>
              <a:t>Overview</a:t>
            </a:r>
          </a:p>
        </p:txBody>
      </p:sp>
      <p:sp>
        <p:nvSpPr>
          <p:cNvPr id="4" name="Rectangle 3"/>
          <p:cNvSpPr/>
          <p:nvPr/>
        </p:nvSpPr>
        <p:spPr>
          <a:xfrm>
            <a:off x="640080" y="1261872"/>
            <a:ext cx="822960" cy="54864"/>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6400800"/>
            <a:ext cx="8229600" cy="274320"/>
          </a:xfrm>
          <a:prstGeom prst="rect">
            <a:avLst/>
          </a:prstGeom>
          <a:noFill/>
        </p:spPr>
        <p:txBody>
          <a:bodyPr wrap="square" anchor="ctr" lIns="0" rIns="0" tIns="0" bIns="0">
            <a:spAutoFit/>
          </a:bodyPr>
          <a:lstStyle/>
          <a:p>
            <a:r>
              <a:rPr sz="1000" b="0" i="0">
                <a:solidFill>
                  <a:srgbClr val="6B7585"/>
                </a:solidFill>
                <a:latin typeface="Calibri"/>
              </a:rPr>
              <a:t>Classification of Sarcoma Based on Genomic Data Using Machine Learning Models</a:t>
            </a:r>
          </a:p>
        </p:txBody>
      </p:sp>
      <p:sp>
        <p:nvSpPr>
          <p:cNvPr id="6" name="TextBox 5"/>
          <p:cNvSpPr txBox="1"/>
          <p:nvPr/>
        </p:nvSpPr>
        <p:spPr>
          <a:xfrm>
            <a:off x="10637215" y="6400800"/>
            <a:ext cx="914400" cy="274320"/>
          </a:xfrm>
          <a:prstGeom prst="rect">
            <a:avLst/>
          </a:prstGeom>
          <a:noFill/>
        </p:spPr>
        <p:txBody>
          <a:bodyPr wrap="square" anchor="ctr" lIns="0" rIns="0" tIns="0" bIns="0">
            <a:spAutoFit/>
          </a:bodyPr>
          <a:lstStyle/>
          <a:p>
            <a:pPr algn="r"/>
            <a:r>
              <a:rPr sz="1000" b="0" i="0">
                <a:solidFill>
                  <a:srgbClr val="6B7585"/>
                </a:solidFill>
                <a:latin typeface="Calibri"/>
              </a:rPr>
              <a:t>2</a:t>
            </a:r>
          </a:p>
        </p:txBody>
      </p:sp>
      <p:sp>
        <p:nvSpPr>
          <p:cNvPr id="7" name="TextBox 6"/>
          <p:cNvSpPr txBox="1"/>
          <p:nvPr/>
        </p:nvSpPr>
        <p:spPr>
          <a:xfrm>
            <a:off x="640080" y="1691640"/>
            <a:ext cx="5029200" cy="4114800"/>
          </a:xfrm>
          <a:prstGeom prst="rect">
            <a:avLst/>
          </a:prstGeom>
          <a:noFill/>
        </p:spPr>
        <p:txBody>
          <a:bodyPr wrap="square" anchor="t" lIns="0" rIns="0" tIns="0" bIns="0">
            <a:spAutoFit/>
          </a:bodyPr>
          <a:lstStyle/>
          <a:p>
            <a:pPr>
              <a:spcAft>
                <a:spcPts val="1600"/>
              </a:spcAft>
            </a:pPr>
            <a:r>
              <a:rPr sz="2400" b="1" i="0">
                <a:solidFill>
                  <a:srgbClr val="1B9AAA"/>
                </a:solidFill>
                <a:latin typeface="Calibri"/>
              </a:rPr>
              <a:t>01   </a:t>
            </a:r>
            <a:r>
              <a:rPr sz="2400" b="0" i="0">
                <a:solidFill>
                  <a:srgbClr val="222B3A"/>
                </a:solidFill>
                <a:latin typeface="Calibri"/>
              </a:rPr>
              <a:t>Introduction</a:t>
            </a:r>
          </a:p>
          <a:p>
            <a:pPr>
              <a:spcAft>
                <a:spcPts val="1600"/>
              </a:spcAft>
            </a:pPr>
            <a:r>
              <a:rPr sz="2400" b="1" i="0">
                <a:solidFill>
                  <a:srgbClr val="1B9AAA"/>
                </a:solidFill>
                <a:latin typeface="Calibri"/>
              </a:rPr>
              <a:t>02   </a:t>
            </a:r>
            <a:r>
              <a:rPr sz="2400" b="0" i="0">
                <a:solidFill>
                  <a:srgbClr val="222B3A"/>
                </a:solidFill>
                <a:latin typeface="Calibri"/>
              </a:rPr>
              <a:t>Key Topics</a:t>
            </a:r>
          </a:p>
          <a:p>
            <a:pPr>
              <a:spcAft>
                <a:spcPts val="1600"/>
              </a:spcAft>
            </a:pPr>
            <a:r>
              <a:rPr sz="2400" b="1" i="0">
                <a:solidFill>
                  <a:srgbClr val="1B9AAA"/>
                </a:solidFill>
                <a:latin typeface="Calibri"/>
              </a:rPr>
              <a:t>03   </a:t>
            </a:r>
            <a:r>
              <a:rPr sz="2400" b="0" i="0">
                <a:solidFill>
                  <a:srgbClr val="222B3A"/>
                </a:solidFill>
                <a:latin typeface="Calibri"/>
              </a:rPr>
              <a:t>Methodology</a:t>
            </a:r>
          </a:p>
          <a:p>
            <a:pPr>
              <a:spcAft>
                <a:spcPts val="1600"/>
              </a:spcAft>
            </a:pPr>
            <a:r>
              <a:rPr sz="2400" b="1" i="0">
                <a:solidFill>
                  <a:srgbClr val="1B9AAA"/>
                </a:solidFill>
                <a:latin typeface="Calibri"/>
              </a:rPr>
              <a:t>04   </a:t>
            </a:r>
            <a:r>
              <a:rPr sz="2400" b="0" i="0">
                <a:solidFill>
                  <a:srgbClr val="222B3A"/>
                </a:solidFill>
                <a:latin typeface="Calibri"/>
              </a:rPr>
              <a:t>Findings &amp; Results</a:t>
            </a:r>
          </a:p>
          <a:p>
            <a:pPr>
              <a:spcAft>
                <a:spcPts val="1600"/>
              </a:spcAft>
            </a:pPr>
            <a:r>
              <a:rPr sz="2400" b="1" i="0">
                <a:solidFill>
                  <a:srgbClr val="1B9AAA"/>
                </a:solidFill>
                <a:latin typeface="Calibri"/>
              </a:rPr>
              <a:t>05   </a:t>
            </a:r>
            <a:r>
              <a:rPr sz="2400" b="0" i="0">
                <a:solidFill>
                  <a:srgbClr val="222B3A"/>
                </a:solidFill>
                <a:latin typeface="Calibri"/>
              </a:rPr>
              <a:t>Key Statistics</a:t>
            </a:r>
          </a:p>
        </p:txBody>
      </p:sp>
      <p:sp>
        <p:nvSpPr>
          <p:cNvPr id="8" name="TextBox 7"/>
          <p:cNvSpPr txBox="1"/>
          <p:nvPr/>
        </p:nvSpPr>
        <p:spPr>
          <a:xfrm>
            <a:off x="6035040" y="1691640"/>
            <a:ext cx="5029200" cy="4114800"/>
          </a:xfrm>
          <a:prstGeom prst="rect">
            <a:avLst/>
          </a:prstGeom>
          <a:noFill/>
        </p:spPr>
        <p:txBody>
          <a:bodyPr wrap="square" anchor="t" lIns="0" rIns="0" tIns="0" bIns="0">
            <a:spAutoFit/>
          </a:bodyPr>
          <a:lstStyle/>
          <a:p>
            <a:pPr>
              <a:spcAft>
                <a:spcPts val="1600"/>
              </a:spcAft>
            </a:pPr>
            <a:r>
              <a:rPr sz="2400" b="1" i="0">
                <a:solidFill>
                  <a:srgbClr val="1B9AAA"/>
                </a:solidFill>
                <a:latin typeface="Calibri"/>
              </a:rPr>
              <a:t>06   </a:t>
            </a:r>
            <a:r>
              <a:rPr sz="2400" b="0" i="0">
                <a:solidFill>
                  <a:srgbClr val="222B3A"/>
                </a:solidFill>
                <a:latin typeface="Calibri"/>
              </a:rPr>
              <a:t>Applications</a:t>
            </a:r>
          </a:p>
          <a:p>
            <a:pPr>
              <a:spcAft>
                <a:spcPts val="1600"/>
              </a:spcAft>
            </a:pPr>
            <a:r>
              <a:rPr sz="2400" b="1" i="0">
                <a:solidFill>
                  <a:srgbClr val="1B9AAA"/>
                </a:solidFill>
                <a:latin typeface="Calibri"/>
              </a:rPr>
              <a:t>07   </a:t>
            </a:r>
            <a:r>
              <a:rPr sz="2400" b="0" i="0">
                <a:solidFill>
                  <a:srgbClr val="222B3A"/>
                </a:solidFill>
                <a:latin typeface="Calibri"/>
              </a:rPr>
              <a:t>Challenges &amp; Limitations</a:t>
            </a:r>
          </a:p>
          <a:p>
            <a:pPr>
              <a:spcAft>
                <a:spcPts val="1600"/>
              </a:spcAft>
            </a:pPr>
            <a:r>
              <a:rPr sz="2400" b="1" i="0">
                <a:solidFill>
                  <a:srgbClr val="1B9AAA"/>
                </a:solidFill>
                <a:latin typeface="Calibri"/>
              </a:rPr>
              <a:t>08   </a:t>
            </a:r>
            <a:r>
              <a:rPr sz="2400" b="0" i="0">
                <a:solidFill>
                  <a:srgbClr val="222B3A"/>
                </a:solidFill>
                <a:latin typeface="Calibri"/>
              </a:rPr>
              <a:t>Future Scope</a:t>
            </a:r>
          </a:p>
          <a:p>
            <a:pPr>
              <a:spcAft>
                <a:spcPts val="1600"/>
              </a:spcAft>
            </a:pPr>
            <a:r>
              <a:rPr sz="2400" b="1" i="0">
                <a:solidFill>
                  <a:srgbClr val="1B9AAA"/>
                </a:solidFill>
                <a:latin typeface="Calibri"/>
              </a:rPr>
              <a:t>09   </a:t>
            </a:r>
            <a:r>
              <a:rPr sz="2400" b="0" i="0">
                <a:solidFill>
                  <a:srgbClr val="222B3A"/>
                </a:solidFill>
                <a:latin typeface="Calibri"/>
              </a:rPr>
              <a:t>Conclusion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11535" cy="777240"/>
          </a:xfrm>
          <a:prstGeom prst="rect">
            <a:avLst/>
          </a:prstGeom>
          <a:noFill/>
        </p:spPr>
        <p:txBody>
          <a:bodyPr wrap="square" anchor="ctr" lIns="0" rIns="0" tIns="0" bIns="0">
            <a:spAutoFit/>
          </a:bodyPr>
          <a:lstStyle/>
          <a:p>
            <a:r>
              <a:rPr sz="3400" b="1" i="0">
                <a:solidFill>
                  <a:srgbClr val="14213D"/>
                </a:solidFill>
                <a:latin typeface="Calibri"/>
              </a:rPr>
              <a:t>Introduction</a:t>
            </a:r>
          </a:p>
        </p:txBody>
      </p:sp>
      <p:sp>
        <p:nvSpPr>
          <p:cNvPr id="4" name="Rectangle 3"/>
          <p:cNvSpPr/>
          <p:nvPr/>
        </p:nvSpPr>
        <p:spPr>
          <a:xfrm>
            <a:off x="640080" y="1261872"/>
            <a:ext cx="822960" cy="54864"/>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6400800"/>
            <a:ext cx="8229600" cy="274320"/>
          </a:xfrm>
          <a:prstGeom prst="rect">
            <a:avLst/>
          </a:prstGeom>
          <a:noFill/>
        </p:spPr>
        <p:txBody>
          <a:bodyPr wrap="square" anchor="ctr" lIns="0" rIns="0" tIns="0" bIns="0">
            <a:spAutoFit/>
          </a:bodyPr>
          <a:lstStyle/>
          <a:p>
            <a:r>
              <a:rPr sz="1000" b="0" i="0">
                <a:solidFill>
                  <a:srgbClr val="6B7585"/>
                </a:solidFill>
                <a:latin typeface="Calibri"/>
              </a:rPr>
              <a:t>Classification of Sarcoma Based on Genomic Data Using Machine Learning Models</a:t>
            </a:r>
          </a:p>
        </p:txBody>
      </p:sp>
      <p:sp>
        <p:nvSpPr>
          <p:cNvPr id="6" name="TextBox 5"/>
          <p:cNvSpPr txBox="1"/>
          <p:nvPr/>
        </p:nvSpPr>
        <p:spPr>
          <a:xfrm>
            <a:off x="10637215" y="6400800"/>
            <a:ext cx="914400" cy="274320"/>
          </a:xfrm>
          <a:prstGeom prst="rect">
            <a:avLst/>
          </a:prstGeom>
          <a:noFill/>
        </p:spPr>
        <p:txBody>
          <a:bodyPr wrap="square" anchor="ctr" lIns="0" rIns="0" tIns="0" bIns="0">
            <a:spAutoFit/>
          </a:bodyPr>
          <a:lstStyle/>
          <a:p>
            <a:pPr algn="r"/>
            <a:r>
              <a:rPr sz="1000" b="0" i="0">
                <a:solidFill>
                  <a:srgbClr val="6B7585"/>
                </a:solidFill>
                <a:latin typeface="Calibri"/>
              </a:rPr>
              <a:t>3</a:t>
            </a:r>
          </a:p>
        </p:txBody>
      </p:sp>
      <p:sp>
        <p:nvSpPr>
          <p:cNvPr id="7" name="TextBox 6"/>
          <p:cNvSpPr txBox="1"/>
          <p:nvPr/>
        </p:nvSpPr>
        <p:spPr>
          <a:xfrm>
            <a:off x="640080" y="1600200"/>
            <a:ext cx="10911535" cy="4572000"/>
          </a:xfrm>
          <a:prstGeom prst="rect">
            <a:avLst/>
          </a:prstGeom>
          <a:noFill/>
        </p:spPr>
        <p:txBody>
          <a:bodyPr wrap="square" anchor="t" lIns="0" rIns="0" tIns="0" bIns="0">
            <a:spAutoFit/>
          </a:bodyPr>
          <a:lstStyle/>
          <a:p>
            <a:pPr algn="l" marL="320040" indent="-320040">
              <a:lnSpc>
                <a:spcPct val="108000"/>
              </a:lnSpc>
              <a:spcAft>
                <a:spcPts val="1430"/>
              </a:spcAft>
              <a:buClr>
                <a:srgbClr val="1B9AAA"/>
              </a:buClr>
              <a:buChar char="•"/>
            </a:pPr>
            <a:r>
              <a:rPr sz="2600" b="0" i="0">
                <a:solidFill>
                  <a:srgbClr val="222B3A"/>
                </a:solidFill>
                <a:latin typeface="Calibri"/>
              </a:rPr>
              <a:t>Sarcomas are a broad category of cancerous tumors originating from connective tissues.</a:t>
            </a:r>
          </a:p>
          <a:p>
            <a:pPr algn="l" marL="320040" indent="-320040">
              <a:lnSpc>
                <a:spcPct val="108000"/>
              </a:lnSpc>
              <a:spcAft>
                <a:spcPts val="1430"/>
              </a:spcAft>
              <a:buClr>
                <a:srgbClr val="1B9AAA"/>
              </a:buClr>
              <a:buChar char="•"/>
            </a:pPr>
            <a:r>
              <a:rPr sz="2600" b="0" i="0">
                <a:solidFill>
                  <a:srgbClr val="222B3A"/>
                </a:solidFill>
                <a:latin typeface="Calibri"/>
              </a:rPr>
              <a:t>Sarcomas are extremely rare, making up about 1% of adults and 15% of pediatric malignancies.</a:t>
            </a:r>
          </a:p>
          <a:p>
            <a:pPr algn="l" marL="320040" indent="-320040">
              <a:lnSpc>
                <a:spcPct val="108000"/>
              </a:lnSpc>
              <a:spcAft>
                <a:spcPts val="1430"/>
              </a:spcAft>
              <a:buClr>
                <a:srgbClr val="1B9AAA"/>
              </a:buClr>
              <a:buChar char="•"/>
            </a:pPr>
            <a:r>
              <a:rPr sz="2600" b="0" i="0">
                <a:solidFill>
                  <a:srgbClr val="222B3A"/>
                </a:solidFill>
                <a:latin typeface="Calibri"/>
              </a:rPr>
              <a:t>Due to their aggressiveness and multifariousness, sarcomas pose a major problem in clinical oncology.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11535" cy="777240"/>
          </a:xfrm>
          <a:prstGeom prst="rect">
            <a:avLst/>
          </a:prstGeom>
          <a:noFill/>
        </p:spPr>
        <p:txBody>
          <a:bodyPr wrap="square" anchor="ctr" lIns="0" rIns="0" tIns="0" bIns="0">
            <a:spAutoFit/>
          </a:bodyPr>
          <a:lstStyle/>
          <a:p>
            <a:r>
              <a:rPr sz="3400" b="1" i="0">
                <a:solidFill>
                  <a:srgbClr val="14213D"/>
                </a:solidFill>
                <a:latin typeface="Calibri"/>
              </a:rPr>
              <a:t>Key Topics</a:t>
            </a:r>
          </a:p>
        </p:txBody>
      </p:sp>
      <p:sp>
        <p:nvSpPr>
          <p:cNvPr id="4" name="Rectangle 3"/>
          <p:cNvSpPr/>
          <p:nvPr/>
        </p:nvSpPr>
        <p:spPr>
          <a:xfrm>
            <a:off x="640080" y="1261872"/>
            <a:ext cx="822960" cy="54864"/>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6400800"/>
            <a:ext cx="8229600" cy="274320"/>
          </a:xfrm>
          <a:prstGeom prst="rect">
            <a:avLst/>
          </a:prstGeom>
          <a:noFill/>
        </p:spPr>
        <p:txBody>
          <a:bodyPr wrap="square" anchor="ctr" lIns="0" rIns="0" tIns="0" bIns="0">
            <a:spAutoFit/>
          </a:bodyPr>
          <a:lstStyle/>
          <a:p>
            <a:r>
              <a:rPr sz="1000" b="0" i="0">
                <a:solidFill>
                  <a:srgbClr val="6B7585"/>
                </a:solidFill>
                <a:latin typeface="Calibri"/>
              </a:rPr>
              <a:t>Classification of Sarcoma Based on Genomic Data Using Machine Learning Models</a:t>
            </a:r>
          </a:p>
        </p:txBody>
      </p:sp>
      <p:sp>
        <p:nvSpPr>
          <p:cNvPr id="6" name="TextBox 5"/>
          <p:cNvSpPr txBox="1"/>
          <p:nvPr/>
        </p:nvSpPr>
        <p:spPr>
          <a:xfrm>
            <a:off x="10637215" y="6400800"/>
            <a:ext cx="914400" cy="274320"/>
          </a:xfrm>
          <a:prstGeom prst="rect">
            <a:avLst/>
          </a:prstGeom>
          <a:noFill/>
        </p:spPr>
        <p:txBody>
          <a:bodyPr wrap="square" anchor="ctr" lIns="0" rIns="0" tIns="0" bIns="0">
            <a:spAutoFit/>
          </a:bodyPr>
          <a:lstStyle/>
          <a:p>
            <a:pPr algn="r"/>
            <a:r>
              <a:rPr sz="1000" b="0" i="0">
                <a:solidFill>
                  <a:srgbClr val="6B7585"/>
                </a:solidFill>
                <a:latin typeface="Calibri"/>
              </a:rPr>
              <a:t>4</a:t>
            </a:r>
          </a:p>
        </p:txBody>
      </p:sp>
      <p:sp>
        <p:nvSpPr>
          <p:cNvPr id="7" name="TextBox 6"/>
          <p:cNvSpPr txBox="1"/>
          <p:nvPr/>
        </p:nvSpPr>
        <p:spPr>
          <a:xfrm>
            <a:off x="640080" y="1600200"/>
            <a:ext cx="10911535" cy="4572000"/>
          </a:xfrm>
          <a:prstGeom prst="rect">
            <a:avLst/>
          </a:prstGeom>
          <a:noFill/>
        </p:spPr>
        <p:txBody>
          <a:bodyPr wrap="square" anchor="t" lIns="0" rIns="0" tIns="0" bIns="0">
            <a:spAutoFit/>
          </a:bodyPr>
          <a:lstStyle/>
          <a:p>
            <a:pPr algn="l" marL="320040" indent="-320040">
              <a:lnSpc>
                <a:spcPct val="108000"/>
              </a:lnSpc>
              <a:spcAft>
                <a:spcPts val="1430"/>
              </a:spcAft>
              <a:buClr>
                <a:srgbClr val="1B9AAA"/>
              </a:buClr>
              <a:buChar char="•"/>
            </a:pPr>
            <a:r>
              <a:rPr sz="2600" b="0" i="0">
                <a:solidFill>
                  <a:srgbClr val="222B3A"/>
                </a:solidFill>
                <a:latin typeface="Calibri"/>
              </a:rPr>
              <a:t>Machine learning models can identify complex patterns in genomic data and forecast outcomes.</a:t>
            </a:r>
          </a:p>
          <a:p>
            <a:pPr algn="l" marL="320040" indent="-320040">
              <a:lnSpc>
                <a:spcPct val="108000"/>
              </a:lnSpc>
              <a:spcAft>
                <a:spcPts val="1430"/>
              </a:spcAft>
              <a:buClr>
                <a:srgbClr val="1B9AAA"/>
              </a:buClr>
              <a:buChar char="•"/>
            </a:pPr>
            <a:r>
              <a:rPr sz="2600" b="0" i="0">
                <a:solidFill>
                  <a:srgbClr val="222B3A"/>
                </a:solidFill>
                <a:latin typeface="Calibri"/>
              </a:rPr>
              <a:t>The proposed work investigates how machine learning methods can be applied to the genomic classification of sarcoma.</a:t>
            </a:r>
          </a:p>
          <a:p>
            <a:pPr algn="l" marL="320040" indent="-320040">
              <a:lnSpc>
                <a:spcPct val="108000"/>
              </a:lnSpc>
              <a:spcAft>
                <a:spcPts val="1430"/>
              </a:spcAft>
              <a:buClr>
                <a:srgbClr val="1B9AAA"/>
              </a:buClr>
              <a:buChar char="•"/>
            </a:pPr>
            <a:r>
              <a:rPr sz="2600" b="0" i="0">
                <a:solidFill>
                  <a:srgbClr val="222B3A"/>
                </a:solidFill>
                <a:latin typeface="Calibri"/>
              </a:rPr>
              <a:t>The dataset is made up of 206 adult SOFT tissues sarcomas samples and represents six major types.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11535" cy="777240"/>
          </a:xfrm>
          <a:prstGeom prst="rect">
            <a:avLst/>
          </a:prstGeom>
          <a:noFill/>
        </p:spPr>
        <p:txBody>
          <a:bodyPr wrap="square" anchor="ctr" lIns="0" rIns="0" tIns="0" bIns="0">
            <a:spAutoFit/>
          </a:bodyPr>
          <a:lstStyle/>
          <a:p>
            <a:r>
              <a:rPr sz="3400" b="1" i="0">
                <a:solidFill>
                  <a:srgbClr val="14213D"/>
                </a:solidFill>
                <a:latin typeface="Calibri"/>
              </a:rPr>
              <a:t>Methodology</a:t>
            </a:r>
          </a:p>
        </p:txBody>
      </p:sp>
      <p:sp>
        <p:nvSpPr>
          <p:cNvPr id="4" name="Rectangle 3"/>
          <p:cNvSpPr/>
          <p:nvPr/>
        </p:nvSpPr>
        <p:spPr>
          <a:xfrm>
            <a:off x="640080" y="1261872"/>
            <a:ext cx="822960" cy="54864"/>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6400800"/>
            <a:ext cx="8229600" cy="274320"/>
          </a:xfrm>
          <a:prstGeom prst="rect">
            <a:avLst/>
          </a:prstGeom>
          <a:noFill/>
        </p:spPr>
        <p:txBody>
          <a:bodyPr wrap="square" anchor="ctr" lIns="0" rIns="0" tIns="0" bIns="0">
            <a:spAutoFit/>
          </a:bodyPr>
          <a:lstStyle/>
          <a:p>
            <a:r>
              <a:rPr sz="1000" b="0" i="0">
                <a:solidFill>
                  <a:srgbClr val="6B7585"/>
                </a:solidFill>
                <a:latin typeface="Calibri"/>
              </a:rPr>
              <a:t>Classification of Sarcoma Based on Genomic Data Using Machine Learning Models</a:t>
            </a:r>
          </a:p>
        </p:txBody>
      </p:sp>
      <p:sp>
        <p:nvSpPr>
          <p:cNvPr id="6" name="TextBox 5"/>
          <p:cNvSpPr txBox="1"/>
          <p:nvPr/>
        </p:nvSpPr>
        <p:spPr>
          <a:xfrm>
            <a:off x="10637215" y="6400800"/>
            <a:ext cx="914400" cy="274320"/>
          </a:xfrm>
          <a:prstGeom prst="rect">
            <a:avLst/>
          </a:prstGeom>
          <a:noFill/>
        </p:spPr>
        <p:txBody>
          <a:bodyPr wrap="square" anchor="ctr" lIns="0" rIns="0" tIns="0" bIns="0">
            <a:spAutoFit/>
          </a:bodyPr>
          <a:lstStyle/>
          <a:p>
            <a:pPr algn="r"/>
            <a:r>
              <a:rPr sz="1000" b="0" i="0">
                <a:solidFill>
                  <a:srgbClr val="6B7585"/>
                </a:solidFill>
                <a:latin typeface="Calibri"/>
              </a:rPr>
              <a:t>5</a:t>
            </a:r>
          </a:p>
        </p:txBody>
      </p:sp>
      <p:sp>
        <p:nvSpPr>
          <p:cNvPr id="7" name="TextBox 6"/>
          <p:cNvSpPr txBox="1"/>
          <p:nvPr/>
        </p:nvSpPr>
        <p:spPr>
          <a:xfrm>
            <a:off x="640080" y="1600200"/>
            <a:ext cx="10911535" cy="4572000"/>
          </a:xfrm>
          <a:prstGeom prst="rect">
            <a:avLst/>
          </a:prstGeom>
          <a:noFill/>
        </p:spPr>
        <p:txBody>
          <a:bodyPr wrap="square" anchor="t" lIns="0" rIns="0" tIns="0" bIns="0">
            <a:spAutoFit/>
          </a:bodyPr>
          <a:lstStyle/>
          <a:p>
            <a:pPr algn="l" marL="320040" indent="-320040">
              <a:lnSpc>
                <a:spcPct val="108000"/>
              </a:lnSpc>
              <a:spcAft>
                <a:spcPts val="1430"/>
              </a:spcAft>
              <a:buClr>
                <a:srgbClr val="1B9AAA"/>
              </a:buClr>
              <a:buChar char="•"/>
            </a:pPr>
            <a:r>
              <a:rPr sz="2600" b="0" i="0">
                <a:solidFill>
                  <a:srgbClr val="222B3A"/>
                </a:solidFill>
                <a:latin typeface="Calibri"/>
              </a:rPr>
              <a:t>The study employs the adult soft tissue sarcomas data set available in cBioPortal database.</a:t>
            </a:r>
          </a:p>
          <a:p>
            <a:pPr algn="l" marL="320040" indent="-320040">
              <a:lnSpc>
                <a:spcPct val="108000"/>
              </a:lnSpc>
              <a:spcAft>
                <a:spcPts val="1430"/>
              </a:spcAft>
              <a:buClr>
                <a:srgbClr val="1B9AAA"/>
              </a:buClr>
              <a:buChar char="•"/>
            </a:pPr>
            <a:r>
              <a:rPr sz="2600" b="0" i="0">
                <a:solidFill>
                  <a:srgbClr val="222B3A"/>
                </a:solidFill>
                <a:latin typeface="Calibri"/>
              </a:rPr>
              <a:t>Machine learning algorithms used include support vector machines (SVM), random forests, and deep learning networks.</a:t>
            </a:r>
          </a:p>
          <a:p>
            <a:pPr algn="l" marL="320040" indent="-320040">
              <a:lnSpc>
                <a:spcPct val="108000"/>
              </a:lnSpc>
              <a:spcAft>
                <a:spcPts val="1430"/>
              </a:spcAft>
              <a:buClr>
                <a:srgbClr val="1B9AAA"/>
              </a:buClr>
              <a:buChar char="•"/>
            </a:pPr>
            <a:r>
              <a:rPr sz="2600" b="0" i="0">
                <a:solidFill>
                  <a:srgbClr val="222B3A"/>
                </a:solidFill>
                <a:latin typeface="Calibri"/>
              </a:rPr>
              <a:t>The approach involves exploratory data analysis, dimensionality reduction, and various clustering along with machine learning techniques.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11535" cy="777240"/>
          </a:xfrm>
          <a:prstGeom prst="rect">
            <a:avLst/>
          </a:prstGeom>
          <a:noFill/>
        </p:spPr>
        <p:txBody>
          <a:bodyPr wrap="square" anchor="ctr" lIns="0" rIns="0" tIns="0" bIns="0">
            <a:spAutoFit/>
          </a:bodyPr>
          <a:lstStyle/>
          <a:p>
            <a:r>
              <a:rPr sz="2800" b="1" i="0">
                <a:solidFill>
                  <a:srgbClr val="14213D"/>
                </a:solidFill>
                <a:latin typeface="Calibri"/>
              </a:rPr>
              <a:t>Flowchart of Machine Learning-based system</a:t>
            </a:r>
          </a:p>
        </p:txBody>
      </p:sp>
      <p:sp>
        <p:nvSpPr>
          <p:cNvPr id="4" name="Rectangle 3"/>
          <p:cNvSpPr/>
          <p:nvPr/>
        </p:nvSpPr>
        <p:spPr>
          <a:xfrm>
            <a:off x="640080" y="1261872"/>
            <a:ext cx="822960" cy="54864"/>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6400800"/>
            <a:ext cx="8229600" cy="274320"/>
          </a:xfrm>
          <a:prstGeom prst="rect">
            <a:avLst/>
          </a:prstGeom>
          <a:noFill/>
        </p:spPr>
        <p:txBody>
          <a:bodyPr wrap="square" anchor="ctr" lIns="0" rIns="0" tIns="0" bIns="0">
            <a:spAutoFit/>
          </a:bodyPr>
          <a:lstStyle/>
          <a:p>
            <a:r>
              <a:rPr sz="1000" b="0" i="0">
                <a:solidFill>
                  <a:srgbClr val="6B7585"/>
                </a:solidFill>
                <a:latin typeface="Calibri"/>
              </a:rPr>
              <a:t>Classification of Sarcoma Based on Genomic Data Using Machine Learning Models</a:t>
            </a:r>
          </a:p>
        </p:txBody>
      </p:sp>
      <p:sp>
        <p:nvSpPr>
          <p:cNvPr id="6" name="TextBox 5"/>
          <p:cNvSpPr txBox="1"/>
          <p:nvPr/>
        </p:nvSpPr>
        <p:spPr>
          <a:xfrm>
            <a:off x="10637215" y="6400800"/>
            <a:ext cx="914400" cy="274320"/>
          </a:xfrm>
          <a:prstGeom prst="rect">
            <a:avLst/>
          </a:prstGeom>
          <a:noFill/>
        </p:spPr>
        <p:txBody>
          <a:bodyPr wrap="square" anchor="ctr" lIns="0" rIns="0" tIns="0" bIns="0">
            <a:spAutoFit/>
          </a:bodyPr>
          <a:lstStyle/>
          <a:p>
            <a:pPr algn="r"/>
            <a:r>
              <a:rPr sz="1000" b="0" i="0">
                <a:solidFill>
                  <a:srgbClr val="6B7585"/>
                </a:solidFill>
                <a:latin typeface="Calibri"/>
              </a:rPr>
              <a:t>6</a:t>
            </a:r>
          </a:p>
        </p:txBody>
      </p:sp>
      <p:sp>
        <p:nvSpPr>
          <p:cNvPr id="7" name="Rectangle 6"/>
          <p:cNvSpPr/>
          <p:nvPr/>
        </p:nvSpPr>
        <p:spPr>
          <a:xfrm>
            <a:off x="640080" y="1508760"/>
            <a:ext cx="10911535" cy="4325112"/>
          </a:xfrm>
          <a:prstGeom prst="rect">
            <a:avLst/>
          </a:prstGeom>
          <a:solidFill>
            <a:srgbClr val="F3F5F8"/>
          </a:solidFill>
          <a:ln w="9525">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page05_img1.jpeg"/>
          <p:cNvPicPr>
            <a:picLocks noChangeAspect="1"/>
          </p:cNvPicPr>
          <p:nvPr/>
        </p:nvPicPr>
        <p:blipFill>
          <a:blip r:embed="rId2"/>
          <a:stretch>
            <a:fillRect/>
          </a:stretch>
        </p:blipFill>
        <p:spPr>
          <a:xfrm>
            <a:off x="1532073" y="1645919"/>
            <a:ext cx="9127548" cy="4050791"/>
          </a:xfrm>
          <a:prstGeom prst="rect">
            <a:avLst/>
          </a:prstGeom>
        </p:spPr>
      </p:pic>
      <p:sp>
        <p:nvSpPr>
          <p:cNvPr id="9" name="TextBox 8"/>
          <p:cNvSpPr txBox="1"/>
          <p:nvPr/>
        </p:nvSpPr>
        <p:spPr>
          <a:xfrm>
            <a:off x="640080" y="5907023"/>
            <a:ext cx="10911535" cy="265176"/>
          </a:xfrm>
          <a:prstGeom prst="rect">
            <a:avLst/>
          </a:prstGeom>
          <a:noFill/>
        </p:spPr>
        <p:txBody>
          <a:bodyPr wrap="square" anchor="t" lIns="0" rIns="0" tIns="0" bIns="0">
            <a:spAutoFit/>
          </a:bodyPr>
          <a:lstStyle/>
          <a:p>
            <a:r>
              <a:rPr sz="1200" b="0" i="1">
                <a:solidFill>
                  <a:srgbClr val="6B7585"/>
                </a:solidFill>
                <a:latin typeface="Calibri"/>
              </a:rPr>
              <a:t>Fig. 1: Flowchart of Machine Learning-based system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11535" cy="777240"/>
          </a:xfrm>
          <a:prstGeom prst="rect">
            <a:avLst/>
          </a:prstGeom>
          <a:noFill/>
        </p:spPr>
        <p:txBody>
          <a:bodyPr wrap="square" anchor="ctr" lIns="0" rIns="0" tIns="0" bIns="0">
            <a:spAutoFit/>
          </a:bodyPr>
          <a:lstStyle/>
          <a:p>
            <a:r>
              <a:rPr sz="3400" b="1" i="0">
                <a:solidFill>
                  <a:srgbClr val="14213D"/>
                </a:solidFill>
                <a:latin typeface="Calibri"/>
              </a:rPr>
              <a:t>Proposed Model: Stacking Classifier</a:t>
            </a:r>
          </a:p>
        </p:txBody>
      </p:sp>
      <p:sp>
        <p:nvSpPr>
          <p:cNvPr id="4" name="Rectangle 3"/>
          <p:cNvSpPr/>
          <p:nvPr/>
        </p:nvSpPr>
        <p:spPr>
          <a:xfrm>
            <a:off x="640080" y="1261872"/>
            <a:ext cx="822960" cy="54864"/>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6400800"/>
            <a:ext cx="8229600" cy="274320"/>
          </a:xfrm>
          <a:prstGeom prst="rect">
            <a:avLst/>
          </a:prstGeom>
          <a:noFill/>
        </p:spPr>
        <p:txBody>
          <a:bodyPr wrap="square" anchor="ctr" lIns="0" rIns="0" tIns="0" bIns="0">
            <a:spAutoFit/>
          </a:bodyPr>
          <a:lstStyle/>
          <a:p>
            <a:r>
              <a:rPr sz="1000" b="0" i="0">
                <a:solidFill>
                  <a:srgbClr val="6B7585"/>
                </a:solidFill>
                <a:latin typeface="Calibri"/>
              </a:rPr>
              <a:t>Classification of Sarcoma Based on Genomic Data Using Machine Learning Models</a:t>
            </a:r>
          </a:p>
        </p:txBody>
      </p:sp>
      <p:sp>
        <p:nvSpPr>
          <p:cNvPr id="6" name="TextBox 5"/>
          <p:cNvSpPr txBox="1"/>
          <p:nvPr/>
        </p:nvSpPr>
        <p:spPr>
          <a:xfrm>
            <a:off x="10637215" y="6400800"/>
            <a:ext cx="914400" cy="274320"/>
          </a:xfrm>
          <a:prstGeom prst="rect">
            <a:avLst/>
          </a:prstGeom>
          <a:noFill/>
        </p:spPr>
        <p:txBody>
          <a:bodyPr wrap="square" anchor="ctr" lIns="0" rIns="0" tIns="0" bIns="0">
            <a:spAutoFit/>
          </a:bodyPr>
          <a:lstStyle/>
          <a:p>
            <a:pPr algn="r"/>
            <a:r>
              <a:rPr sz="1000" b="0" i="0">
                <a:solidFill>
                  <a:srgbClr val="6B7585"/>
                </a:solidFill>
                <a:latin typeface="Calibri"/>
              </a:rPr>
              <a:t>7</a:t>
            </a:r>
          </a:p>
        </p:txBody>
      </p:sp>
      <p:sp>
        <p:nvSpPr>
          <p:cNvPr id="7" name="Rectangle 6"/>
          <p:cNvSpPr/>
          <p:nvPr/>
        </p:nvSpPr>
        <p:spPr>
          <a:xfrm>
            <a:off x="640080" y="1508760"/>
            <a:ext cx="10911535" cy="4325112"/>
          </a:xfrm>
          <a:prstGeom prst="rect">
            <a:avLst/>
          </a:prstGeom>
          <a:solidFill>
            <a:srgbClr val="F3F5F8"/>
          </a:solidFill>
          <a:ln w="9525">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page07_img1.jpeg"/>
          <p:cNvPicPr>
            <a:picLocks noChangeAspect="1"/>
          </p:cNvPicPr>
          <p:nvPr/>
        </p:nvPicPr>
        <p:blipFill>
          <a:blip r:embed="rId2"/>
          <a:stretch>
            <a:fillRect/>
          </a:stretch>
        </p:blipFill>
        <p:spPr>
          <a:xfrm>
            <a:off x="1926710" y="1645919"/>
            <a:ext cx="8338274" cy="4050791"/>
          </a:xfrm>
          <a:prstGeom prst="rect">
            <a:avLst/>
          </a:prstGeom>
        </p:spPr>
      </p:pic>
      <p:sp>
        <p:nvSpPr>
          <p:cNvPr id="9" name="TextBox 8"/>
          <p:cNvSpPr txBox="1"/>
          <p:nvPr/>
        </p:nvSpPr>
        <p:spPr>
          <a:xfrm>
            <a:off x="640080" y="5907023"/>
            <a:ext cx="10911535" cy="265176"/>
          </a:xfrm>
          <a:prstGeom prst="rect">
            <a:avLst/>
          </a:prstGeom>
          <a:noFill/>
        </p:spPr>
        <p:txBody>
          <a:bodyPr wrap="square" anchor="t" lIns="0" rIns="0" tIns="0" bIns="0">
            <a:spAutoFit/>
          </a:bodyPr>
          <a:lstStyle/>
          <a:p>
            <a:r>
              <a:rPr sz="1200" b="0" i="1">
                <a:solidFill>
                  <a:srgbClr val="6B7585"/>
                </a:solidFill>
                <a:latin typeface="Calibri"/>
              </a:rPr>
              <a:t>Fig. 2: Proposed Model: Stacking Classifier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11535" cy="777240"/>
          </a:xfrm>
          <a:prstGeom prst="rect">
            <a:avLst/>
          </a:prstGeom>
          <a:noFill/>
        </p:spPr>
        <p:txBody>
          <a:bodyPr wrap="square" anchor="ctr" lIns="0" rIns="0" tIns="0" bIns="0">
            <a:spAutoFit/>
          </a:bodyPr>
          <a:lstStyle/>
          <a:p>
            <a:r>
              <a:rPr sz="3400" b="1" i="0">
                <a:solidFill>
                  <a:srgbClr val="14213D"/>
                </a:solidFill>
                <a:latin typeface="Calibri"/>
              </a:rPr>
              <a:t>Findings &amp; Results</a:t>
            </a:r>
          </a:p>
        </p:txBody>
      </p:sp>
      <p:sp>
        <p:nvSpPr>
          <p:cNvPr id="4" name="Rectangle 3"/>
          <p:cNvSpPr/>
          <p:nvPr/>
        </p:nvSpPr>
        <p:spPr>
          <a:xfrm>
            <a:off x="640080" y="1261872"/>
            <a:ext cx="822960" cy="54864"/>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6400800"/>
            <a:ext cx="8229600" cy="274320"/>
          </a:xfrm>
          <a:prstGeom prst="rect">
            <a:avLst/>
          </a:prstGeom>
          <a:noFill/>
        </p:spPr>
        <p:txBody>
          <a:bodyPr wrap="square" anchor="ctr" lIns="0" rIns="0" tIns="0" bIns="0">
            <a:spAutoFit/>
          </a:bodyPr>
          <a:lstStyle/>
          <a:p>
            <a:r>
              <a:rPr sz="1000" b="0" i="0">
                <a:solidFill>
                  <a:srgbClr val="6B7585"/>
                </a:solidFill>
                <a:latin typeface="Calibri"/>
              </a:rPr>
              <a:t>Classification of Sarcoma Based on Genomic Data Using Machine Learning Models</a:t>
            </a:r>
          </a:p>
        </p:txBody>
      </p:sp>
      <p:sp>
        <p:nvSpPr>
          <p:cNvPr id="6" name="TextBox 5"/>
          <p:cNvSpPr txBox="1"/>
          <p:nvPr/>
        </p:nvSpPr>
        <p:spPr>
          <a:xfrm>
            <a:off x="10637215" y="6400800"/>
            <a:ext cx="914400" cy="274320"/>
          </a:xfrm>
          <a:prstGeom prst="rect">
            <a:avLst/>
          </a:prstGeom>
          <a:noFill/>
        </p:spPr>
        <p:txBody>
          <a:bodyPr wrap="square" anchor="ctr" lIns="0" rIns="0" tIns="0" bIns="0">
            <a:spAutoFit/>
          </a:bodyPr>
          <a:lstStyle/>
          <a:p>
            <a:pPr algn="r"/>
            <a:r>
              <a:rPr sz="1000" b="0" i="0">
                <a:solidFill>
                  <a:srgbClr val="6B7585"/>
                </a:solidFill>
                <a:latin typeface="Calibri"/>
              </a:rPr>
              <a:t>8</a:t>
            </a:r>
          </a:p>
        </p:txBody>
      </p:sp>
      <p:sp>
        <p:nvSpPr>
          <p:cNvPr id="7" name="TextBox 6"/>
          <p:cNvSpPr txBox="1"/>
          <p:nvPr/>
        </p:nvSpPr>
        <p:spPr>
          <a:xfrm>
            <a:off x="640080" y="1600200"/>
            <a:ext cx="10911535" cy="4572000"/>
          </a:xfrm>
          <a:prstGeom prst="rect">
            <a:avLst/>
          </a:prstGeom>
          <a:noFill/>
        </p:spPr>
        <p:txBody>
          <a:bodyPr wrap="square" anchor="t" lIns="0" rIns="0" tIns="0" bIns="0">
            <a:spAutoFit/>
          </a:bodyPr>
          <a:lstStyle/>
          <a:p>
            <a:pPr algn="l" marL="320040" indent="-320040">
              <a:lnSpc>
                <a:spcPct val="108000"/>
              </a:lnSpc>
              <a:spcAft>
                <a:spcPts val="1430"/>
              </a:spcAft>
              <a:buClr>
                <a:srgbClr val="1B9AAA"/>
              </a:buClr>
              <a:buChar char="•"/>
            </a:pPr>
            <a:r>
              <a:rPr sz="2600" b="0" i="0">
                <a:solidFill>
                  <a:srgbClr val="222B3A"/>
                </a:solidFill>
                <a:latin typeface="Calibri"/>
              </a:rPr>
              <a:t>5-fold cross-validation is used to generate out-of-fold predictions.</a:t>
            </a:r>
          </a:p>
          <a:p>
            <a:pPr algn="l" marL="320040" indent="-320040">
              <a:lnSpc>
                <a:spcPct val="108000"/>
              </a:lnSpc>
              <a:spcAft>
                <a:spcPts val="1430"/>
              </a:spcAft>
              <a:buClr>
                <a:srgbClr val="1B9AAA"/>
              </a:buClr>
              <a:buChar char="•"/>
            </a:pPr>
            <a:r>
              <a:rPr sz="2600" b="0" i="0">
                <a:solidFill>
                  <a:srgbClr val="222B3A"/>
                </a:solidFill>
                <a:latin typeface="Calibri"/>
              </a:rPr>
              <a:t>XG Boost achieved excellent performance in classifying Frameshift Mutations (107/110 correct), Inframe Mutations (118/119 correct), and Variants (28/292 correct).</a:t>
            </a:r>
          </a:p>
          <a:p>
            <a:pPr algn="l" marL="320040" indent="-320040">
              <a:lnSpc>
                <a:spcPct val="108000"/>
              </a:lnSpc>
              <a:spcAft>
                <a:spcPts val="1430"/>
              </a:spcAft>
              <a:buClr>
                <a:srgbClr val="1B9AAA"/>
              </a:buClr>
              <a:buChar char="•"/>
            </a:pPr>
            <a:r>
              <a:rPr sz="2600" b="0" i="0">
                <a:solidFill>
                  <a:srgbClr val="222B3A"/>
                </a:solidFill>
                <a:latin typeface="Calibri"/>
              </a:rPr>
              <a:t>LightGBM showed a similar pattern to XGBoost, with slightly better performance on Missense Mutations (715 correct vs 698 for XGBoost).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11535" cy="777240"/>
          </a:xfrm>
          <a:prstGeom prst="rect">
            <a:avLst/>
          </a:prstGeom>
          <a:noFill/>
        </p:spPr>
        <p:txBody>
          <a:bodyPr wrap="square" anchor="ctr" lIns="0" rIns="0" tIns="0" bIns="0">
            <a:spAutoFit/>
          </a:bodyPr>
          <a:lstStyle/>
          <a:p>
            <a:r>
              <a:rPr sz="2800" b="1" i="0">
                <a:solidFill>
                  <a:srgbClr val="14213D"/>
                </a:solidFill>
                <a:latin typeface="Calibri"/>
              </a:rPr>
              <a:t>Comparison of Effectiveness of Different Models</a:t>
            </a:r>
          </a:p>
        </p:txBody>
      </p:sp>
      <p:sp>
        <p:nvSpPr>
          <p:cNvPr id="4" name="Rectangle 3"/>
          <p:cNvSpPr/>
          <p:nvPr/>
        </p:nvSpPr>
        <p:spPr>
          <a:xfrm>
            <a:off x="640080" y="1261872"/>
            <a:ext cx="822960" cy="54864"/>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6400800"/>
            <a:ext cx="8229600" cy="274320"/>
          </a:xfrm>
          <a:prstGeom prst="rect">
            <a:avLst/>
          </a:prstGeom>
          <a:noFill/>
        </p:spPr>
        <p:txBody>
          <a:bodyPr wrap="square" anchor="ctr" lIns="0" rIns="0" tIns="0" bIns="0">
            <a:spAutoFit/>
          </a:bodyPr>
          <a:lstStyle/>
          <a:p>
            <a:r>
              <a:rPr sz="1000" b="0" i="0">
                <a:solidFill>
                  <a:srgbClr val="6B7585"/>
                </a:solidFill>
                <a:latin typeface="Calibri"/>
              </a:rPr>
              <a:t>Classification of Sarcoma Based on Genomic Data Using Machine Learning Models</a:t>
            </a:r>
          </a:p>
        </p:txBody>
      </p:sp>
      <p:sp>
        <p:nvSpPr>
          <p:cNvPr id="6" name="TextBox 5"/>
          <p:cNvSpPr txBox="1"/>
          <p:nvPr/>
        </p:nvSpPr>
        <p:spPr>
          <a:xfrm>
            <a:off x="10637215" y="6400800"/>
            <a:ext cx="914400" cy="274320"/>
          </a:xfrm>
          <a:prstGeom prst="rect">
            <a:avLst/>
          </a:prstGeom>
          <a:noFill/>
        </p:spPr>
        <p:txBody>
          <a:bodyPr wrap="square" anchor="ctr" lIns="0" rIns="0" tIns="0" bIns="0">
            <a:spAutoFit/>
          </a:bodyPr>
          <a:lstStyle/>
          <a:p>
            <a:pPr algn="r"/>
            <a:r>
              <a:rPr sz="1000" b="0" i="0">
                <a:solidFill>
                  <a:srgbClr val="6B7585"/>
                </a:solidFill>
                <a:latin typeface="Calibri"/>
              </a:rPr>
              <a:t>9</a:t>
            </a:r>
          </a:p>
        </p:txBody>
      </p:sp>
      <p:sp>
        <p:nvSpPr>
          <p:cNvPr id="7" name="Rectangle 6"/>
          <p:cNvSpPr/>
          <p:nvPr/>
        </p:nvSpPr>
        <p:spPr>
          <a:xfrm>
            <a:off x="640080" y="1508760"/>
            <a:ext cx="10911535" cy="4325112"/>
          </a:xfrm>
          <a:prstGeom prst="rect">
            <a:avLst/>
          </a:prstGeom>
          <a:solidFill>
            <a:srgbClr val="F3F5F8"/>
          </a:solidFill>
          <a:ln w="9525">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page08_img1.jpeg"/>
          <p:cNvPicPr>
            <a:picLocks noChangeAspect="1"/>
          </p:cNvPicPr>
          <p:nvPr/>
        </p:nvPicPr>
        <p:blipFill>
          <a:blip r:embed="rId2"/>
          <a:stretch>
            <a:fillRect/>
          </a:stretch>
        </p:blipFill>
        <p:spPr>
          <a:xfrm>
            <a:off x="823323" y="1645919"/>
            <a:ext cx="10545047" cy="4050791"/>
          </a:xfrm>
          <a:prstGeom prst="rect">
            <a:avLst/>
          </a:prstGeom>
        </p:spPr>
      </p:pic>
      <p:sp>
        <p:nvSpPr>
          <p:cNvPr id="9" name="TextBox 8"/>
          <p:cNvSpPr txBox="1"/>
          <p:nvPr/>
        </p:nvSpPr>
        <p:spPr>
          <a:xfrm>
            <a:off x="640080" y="5907023"/>
            <a:ext cx="10911535" cy="265176"/>
          </a:xfrm>
          <a:prstGeom prst="rect">
            <a:avLst/>
          </a:prstGeom>
          <a:noFill/>
        </p:spPr>
        <p:txBody>
          <a:bodyPr wrap="square" anchor="t" lIns="0" rIns="0" tIns="0" bIns="0">
            <a:spAutoFit/>
          </a:bodyPr>
          <a:lstStyle/>
          <a:p>
            <a:r>
              <a:rPr sz="1200" b="0" i="1">
                <a:solidFill>
                  <a:srgbClr val="6B7585"/>
                </a:solidFill>
                <a:latin typeface="Calibri"/>
              </a:rPr>
              <a:t>Fig. 3: Comparison of Effectiveness of Different Models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11535" cy="777240"/>
          </a:xfrm>
          <a:prstGeom prst="rect">
            <a:avLst/>
          </a:prstGeom>
          <a:noFill/>
        </p:spPr>
        <p:txBody>
          <a:bodyPr wrap="square" anchor="ctr" lIns="0" rIns="0" tIns="0" bIns="0">
            <a:spAutoFit/>
          </a:bodyPr>
          <a:lstStyle/>
          <a:p>
            <a:r>
              <a:rPr sz="3400" b="1" i="0">
                <a:solidFill>
                  <a:srgbClr val="14213D"/>
                </a:solidFill>
                <a:latin typeface="Calibri"/>
              </a:rPr>
              <a:t>Confusion Matrix for XG Boost</a:t>
            </a:r>
          </a:p>
        </p:txBody>
      </p:sp>
      <p:sp>
        <p:nvSpPr>
          <p:cNvPr id="4" name="Rectangle 3"/>
          <p:cNvSpPr/>
          <p:nvPr/>
        </p:nvSpPr>
        <p:spPr>
          <a:xfrm>
            <a:off x="640080" y="1261872"/>
            <a:ext cx="822960" cy="54864"/>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6400800"/>
            <a:ext cx="8229600" cy="274320"/>
          </a:xfrm>
          <a:prstGeom prst="rect">
            <a:avLst/>
          </a:prstGeom>
          <a:noFill/>
        </p:spPr>
        <p:txBody>
          <a:bodyPr wrap="square" anchor="ctr" lIns="0" rIns="0" tIns="0" bIns="0">
            <a:spAutoFit/>
          </a:bodyPr>
          <a:lstStyle/>
          <a:p>
            <a:r>
              <a:rPr sz="1000" b="0" i="0">
                <a:solidFill>
                  <a:srgbClr val="6B7585"/>
                </a:solidFill>
                <a:latin typeface="Calibri"/>
              </a:rPr>
              <a:t>Classification of Sarcoma Based on Genomic Data Using Machine Learning Models</a:t>
            </a:r>
          </a:p>
        </p:txBody>
      </p:sp>
      <p:sp>
        <p:nvSpPr>
          <p:cNvPr id="6" name="TextBox 5"/>
          <p:cNvSpPr txBox="1"/>
          <p:nvPr/>
        </p:nvSpPr>
        <p:spPr>
          <a:xfrm>
            <a:off x="10637215" y="6400800"/>
            <a:ext cx="914400" cy="274320"/>
          </a:xfrm>
          <a:prstGeom prst="rect">
            <a:avLst/>
          </a:prstGeom>
          <a:noFill/>
        </p:spPr>
        <p:txBody>
          <a:bodyPr wrap="square" anchor="ctr" lIns="0" rIns="0" tIns="0" bIns="0">
            <a:spAutoFit/>
          </a:bodyPr>
          <a:lstStyle/>
          <a:p>
            <a:pPr algn="r"/>
            <a:r>
              <a:rPr sz="1000" b="0" i="0">
                <a:solidFill>
                  <a:srgbClr val="6B7585"/>
                </a:solidFill>
                <a:latin typeface="Calibri"/>
              </a:rPr>
              <a:t>10</a:t>
            </a:r>
          </a:p>
        </p:txBody>
      </p:sp>
      <p:sp>
        <p:nvSpPr>
          <p:cNvPr id="7" name="Rectangle 6"/>
          <p:cNvSpPr/>
          <p:nvPr/>
        </p:nvSpPr>
        <p:spPr>
          <a:xfrm>
            <a:off x="640080" y="1508760"/>
            <a:ext cx="10911535" cy="4325112"/>
          </a:xfrm>
          <a:prstGeom prst="rect">
            <a:avLst/>
          </a:prstGeom>
          <a:solidFill>
            <a:srgbClr val="F3F5F8"/>
          </a:solidFill>
          <a:ln w="9525">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page10_img1.jpeg"/>
          <p:cNvPicPr>
            <a:picLocks noChangeAspect="1"/>
          </p:cNvPicPr>
          <p:nvPr/>
        </p:nvPicPr>
        <p:blipFill>
          <a:blip r:embed="rId2"/>
          <a:stretch>
            <a:fillRect/>
          </a:stretch>
        </p:blipFill>
        <p:spPr>
          <a:xfrm>
            <a:off x="3564102" y="1645919"/>
            <a:ext cx="5063490" cy="4050791"/>
          </a:xfrm>
          <a:prstGeom prst="rect">
            <a:avLst/>
          </a:prstGeom>
        </p:spPr>
      </p:pic>
      <p:sp>
        <p:nvSpPr>
          <p:cNvPr id="9" name="TextBox 8"/>
          <p:cNvSpPr txBox="1"/>
          <p:nvPr/>
        </p:nvSpPr>
        <p:spPr>
          <a:xfrm>
            <a:off x="640080" y="5907023"/>
            <a:ext cx="10911535" cy="265176"/>
          </a:xfrm>
          <a:prstGeom prst="rect">
            <a:avLst/>
          </a:prstGeom>
          <a:noFill/>
        </p:spPr>
        <p:txBody>
          <a:bodyPr wrap="square" anchor="t" lIns="0" rIns="0" tIns="0" bIns="0">
            <a:spAutoFit/>
          </a:bodyPr>
          <a:lstStyle/>
          <a:p>
            <a:r>
              <a:rPr sz="1200" b="0" i="1">
                <a:solidFill>
                  <a:srgbClr val="6B7585"/>
                </a:solidFill>
                <a:latin typeface="Calibri"/>
              </a:rPr>
              <a:t>Fig. 4. Confusion Matrix for XG Boost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11535" cy="777240"/>
          </a:xfrm>
          <a:prstGeom prst="rect">
            <a:avLst/>
          </a:prstGeom>
          <a:noFill/>
        </p:spPr>
        <p:txBody>
          <a:bodyPr wrap="square" anchor="ctr" lIns="0" rIns="0" tIns="0" bIns="0">
            <a:spAutoFit/>
          </a:bodyPr>
          <a:lstStyle/>
          <a:p>
            <a:r>
              <a:rPr sz="3400" b="1" i="0">
                <a:solidFill>
                  <a:srgbClr val="14213D"/>
                </a:solidFill>
                <a:latin typeface="Calibri"/>
              </a:rPr>
              <a:t>Confusion Matrix for Random Forest</a:t>
            </a:r>
          </a:p>
        </p:txBody>
      </p:sp>
      <p:sp>
        <p:nvSpPr>
          <p:cNvPr id="4" name="Rectangle 3"/>
          <p:cNvSpPr/>
          <p:nvPr/>
        </p:nvSpPr>
        <p:spPr>
          <a:xfrm>
            <a:off x="640080" y="1261872"/>
            <a:ext cx="822960" cy="54864"/>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6400800"/>
            <a:ext cx="8229600" cy="274320"/>
          </a:xfrm>
          <a:prstGeom prst="rect">
            <a:avLst/>
          </a:prstGeom>
          <a:noFill/>
        </p:spPr>
        <p:txBody>
          <a:bodyPr wrap="square" anchor="ctr" lIns="0" rIns="0" tIns="0" bIns="0">
            <a:spAutoFit/>
          </a:bodyPr>
          <a:lstStyle/>
          <a:p>
            <a:r>
              <a:rPr sz="1000" b="0" i="0">
                <a:solidFill>
                  <a:srgbClr val="6B7585"/>
                </a:solidFill>
                <a:latin typeface="Calibri"/>
              </a:rPr>
              <a:t>Classification of Sarcoma Based on Genomic Data Using Machine Learning Models</a:t>
            </a:r>
          </a:p>
        </p:txBody>
      </p:sp>
      <p:sp>
        <p:nvSpPr>
          <p:cNvPr id="6" name="TextBox 5"/>
          <p:cNvSpPr txBox="1"/>
          <p:nvPr/>
        </p:nvSpPr>
        <p:spPr>
          <a:xfrm>
            <a:off x="10637215" y="6400800"/>
            <a:ext cx="914400" cy="274320"/>
          </a:xfrm>
          <a:prstGeom prst="rect">
            <a:avLst/>
          </a:prstGeom>
          <a:noFill/>
        </p:spPr>
        <p:txBody>
          <a:bodyPr wrap="square" anchor="ctr" lIns="0" rIns="0" tIns="0" bIns="0">
            <a:spAutoFit/>
          </a:bodyPr>
          <a:lstStyle/>
          <a:p>
            <a:pPr algn="r"/>
            <a:r>
              <a:rPr sz="1000" b="0" i="0">
                <a:solidFill>
                  <a:srgbClr val="6B7585"/>
                </a:solidFill>
                <a:latin typeface="Calibri"/>
              </a:rPr>
              <a:t>11</a:t>
            </a:r>
          </a:p>
        </p:txBody>
      </p:sp>
      <p:sp>
        <p:nvSpPr>
          <p:cNvPr id="7" name="Rectangle 6"/>
          <p:cNvSpPr/>
          <p:nvPr/>
        </p:nvSpPr>
        <p:spPr>
          <a:xfrm>
            <a:off x="640080" y="1508760"/>
            <a:ext cx="10911535" cy="4325112"/>
          </a:xfrm>
          <a:prstGeom prst="rect">
            <a:avLst/>
          </a:prstGeom>
          <a:solidFill>
            <a:srgbClr val="F3F5F8"/>
          </a:solidFill>
          <a:ln w="9525">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page11_img1.jpeg"/>
          <p:cNvPicPr>
            <a:picLocks noChangeAspect="1"/>
          </p:cNvPicPr>
          <p:nvPr/>
        </p:nvPicPr>
        <p:blipFill>
          <a:blip r:embed="rId2"/>
          <a:stretch>
            <a:fillRect/>
          </a:stretch>
        </p:blipFill>
        <p:spPr>
          <a:xfrm>
            <a:off x="3693747" y="1645919"/>
            <a:ext cx="4804200" cy="4050791"/>
          </a:xfrm>
          <a:prstGeom prst="rect">
            <a:avLst/>
          </a:prstGeom>
        </p:spPr>
      </p:pic>
      <p:sp>
        <p:nvSpPr>
          <p:cNvPr id="9" name="TextBox 8"/>
          <p:cNvSpPr txBox="1"/>
          <p:nvPr/>
        </p:nvSpPr>
        <p:spPr>
          <a:xfrm>
            <a:off x="640080" y="5907023"/>
            <a:ext cx="10911535" cy="265176"/>
          </a:xfrm>
          <a:prstGeom prst="rect">
            <a:avLst/>
          </a:prstGeom>
          <a:noFill/>
        </p:spPr>
        <p:txBody>
          <a:bodyPr wrap="square" anchor="t" lIns="0" rIns="0" tIns="0" bIns="0">
            <a:spAutoFit/>
          </a:bodyPr>
          <a:lstStyle/>
          <a:p>
            <a:r>
              <a:rPr sz="1200" b="0" i="1">
                <a:solidFill>
                  <a:srgbClr val="6B7585"/>
                </a:solidFill>
                <a:latin typeface="Calibri"/>
              </a:rPr>
              <a:t>Fig. 6: Confusion Matrix for Random Forest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11535" cy="777240"/>
          </a:xfrm>
          <a:prstGeom prst="rect">
            <a:avLst/>
          </a:prstGeom>
          <a:noFill/>
        </p:spPr>
        <p:txBody>
          <a:bodyPr wrap="square" anchor="ctr" lIns="0" rIns="0" tIns="0" bIns="0">
            <a:spAutoFit/>
          </a:bodyPr>
          <a:lstStyle/>
          <a:p>
            <a:r>
              <a:rPr sz="2800" b="1" i="0">
                <a:solidFill>
                  <a:srgbClr val="14213D"/>
                </a:solidFill>
                <a:latin typeface="Calibri"/>
              </a:rPr>
              <a:t>Confusion Matrix for Stacking Classifier</a:t>
            </a:r>
          </a:p>
        </p:txBody>
      </p:sp>
      <p:sp>
        <p:nvSpPr>
          <p:cNvPr id="4" name="Rectangle 3"/>
          <p:cNvSpPr/>
          <p:nvPr/>
        </p:nvSpPr>
        <p:spPr>
          <a:xfrm>
            <a:off x="640080" y="1261872"/>
            <a:ext cx="822960" cy="54864"/>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6400800"/>
            <a:ext cx="8229600" cy="274320"/>
          </a:xfrm>
          <a:prstGeom prst="rect">
            <a:avLst/>
          </a:prstGeom>
          <a:noFill/>
        </p:spPr>
        <p:txBody>
          <a:bodyPr wrap="square" anchor="ctr" lIns="0" rIns="0" tIns="0" bIns="0">
            <a:spAutoFit/>
          </a:bodyPr>
          <a:lstStyle/>
          <a:p>
            <a:r>
              <a:rPr sz="1000" b="0" i="0">
                <a:solidFill>
                  <a:srgbClr val="6B7585"/>
                </a:solidFill>
                <a:latin typeface="Calibri"/>
              </a:rPr>
              <a:t>Classification of Sarcoma Based on Genomic Data Using Machine Learning Models</a:t>
            </a:r>
          </a:p>
        </p:txBody>
      </p:sp>
      <p:sp>
        <p:nvSpPr>
          <p:cNvPr id="6" name="TextBox 5"/>
          <p:cNvSpPr txBox="1"/>
          <p:nvPr/>
        </p:nvSpPr>
        <p:spPr>
          <a:xfrm>
            <a:off x="10637215" y="6400800"/>
            <a:ext cx="914400" cy="274320"/>
          </a:xfrm>
          <a:prstGeom prst="rect">
            <a:avLst/>
          </a:prstGeom>
          <a:noFill/>
        </p:spPr>
        <p:txBody>
          <a:bodyPr wrap="square" anchor="ctr" lIns="0" rIns="0" tIns="0" bIns="0">
            <a:spAutoFit/>
          </a:bodyPr>
          <a:lstStyle/>
          <a:p>
            <a:pPr algn="r"/>
            <a:r>
              <a:rPr sz="1000" b="0" i="0">
                <a:solidFill>
                  <a:srgbClr val="6B7585"/>
                </a:solidFill>
                <a:latin typeface="Calibri"/>
              </a:rPr>
              <a:t>12</a:t>
            </a:r>
          </a:p>
        </p:txBody>
      </p:sp>
      <p:sp>
        <p:nvSpPr>
          <p:cNvPr id="7" name="Rectangle 6"/>
          <p:cNvSpPr/>
          <p:nvPr/>
        </p:nvSpPr>
        <p:spPr>
          <a:xfrm>
            <a:off x="640080" y="1508760"/>
            <a:ext cx="10911535" cy="4325112"/>
          </a:xfrm>
          <a:prstGeom prst="rect">
            <a:avLst/>
          </a:prstGeom>
          <a:solidFill>
            <a:srgbClr val="F3F5F8"/>
          </a:solidFill>
          <a:ln w="9525">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page11_img2.jpeg"/>
          <p:cNvPicPr>
            <a:picLocks noChangeAspect="1"/>
          </p:cNvPicPr>
          <p:nvPr/>
        </p:nvPicPr>
        <p:blipFill>
          <a:blip r:embed="rId2"/>
          <a:stretch>
            <a:fillRect/>
          </a:stretch>
        </p:blipFill>
        <p:spPr>
          <a:xfrm>
            <a:off x="3444203" y="1645919"/>
            <a:ext cx="5303287" cy="4050791"/>
          </a:xfrm>
          <a:prstGeom prst="rect">
            <a:avLst/>
          </a:prstGeom>
        </p:spPr>
      </p:pic>
      <p:sp>
        <p:nvSpPr>
          <p:cNvPr id="9" name="TextBox 8"/>
          <p:cNvSpPr txBox="1"/>
          <p:nvPr/>
        </p:nvSpPr>
        <p:spPr>
          <a:xfrm>
            <a:off x="640080" y="5907023"/>
            <a:ext cx="10911535" cy="265176"/>
          </a:xfrm>
          <a:prstGeom prst="rect">
            <a:avLst/>
          </a:prstGeom>
          <a:noFill/>
        </p:spPr>
        <p:txBody>
          <a:bodyPr wrap="square" anchor="t" lIns="0" rIns="0" tIns="0" bIns="0">
            <a:spAutoFit/>
          </a:bodyPr>
          <a:lstStyle/>
          <a:p>
            <a:r>
              <a:rPr sz="1200" b="0" i="1">
                <a:solidFill>
                  <a:srgbClr val="6B7585"/>
                </a:solidFill>
                <a:latin typeface="Calibri"/>
              </a:rPr>
              <a:t>Fig. 7: Confusion Matrix for Stacking Classifier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11535" cy="777240"/>
          </a:xfrm>
          <a:prstGeom prst="rect">
            <a:avLst/>
          </a:prstGeom>
          <a:noFill/>
        </p:spPr>
        <p:txBody>
          <a:bodyPr wrap="square" anchor="ctr" lIns="0" rIns="0" tIns="0" bIns="0">
            <a:spAutoFit/>
          </a:bodyPr>
          <a:lstStyle/>
          <a:p>
            <a:r>
              <a:rPr sz="3400" b="1" i="0">
                <a:solidFill>
                  <a:srgbClr val="14213D"/>
                </a:solidFill>
                <a:latin typeface="Calibri"/>
              </a:rPr>
              <a:t>Key Statistics</a:t>
            </a:r>
          </a:p>
        </p:txBody>
      </p:sp>
      <p:sp>
        <p:nvSpPr>
          <p:cNvPr id="4" name="Rectangle 3"/>
          <p:cNvSpPr/>
          <p:nvPr/>
        </p:nvSpPr>
        <p:spPr>
          <a:xfrm>
            <a:off x="640080" y="1261872"/>
            <a:ext cx="822960" cy="54864"/>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6400800"/>
            <a:ext cx="8229600" cy="274320"/>
          </a:xfrm>
          <a:prstGeom prst="rect">
            <a:avLst/>
          </a:prstGeom>
          <a:noFill/>
        </p:spPr>
        <p:txBody>
          <a:bodyPr wrap="square" anchor="ctr" lIns="0" rIns="0" tIns="0" bIns="0">
            <a:spAutoFit/>
          </a:bodyPr>
          <a:lstStyle/>
          <a:p>
            <a:r>
              <a:rPr sz="1000" b="0" i="0">
                <a:solidFill>
                  <a:srgbClr val="6B7585"/>
                </a:solidFill>
                <a:latin typeface="Calibri"/>
              </a:rPr>
              <a:t>Classification of Sarcoma Based on Genomic Data Using Machine Learning Models</a:t>
            </a:r>
          </a:p>
        </p:txBody>
      </p:sp>
      <p:sp>
        <p:nvSpPr>
          <p:cNvPr id="6" name="TextBox 5"/>
          <p:cNvSpPr txBox="1"/>
          <p:nvPr/>
        </p:nvSpPr>
        <p:spPr>
          <a:xfrm>
            <a:off x="10637215" y="6400800"/>
            <a:ext cx="914400" cy="274320"/>
          </a:xfrm>
          <a:prstGeom prst="rect">
            <a:avLst/>
          </a:prstGeom>
          <a:noFill/>
        </p:spPr>
        <p:txBody>
          <a:bodyPr wrap="square" anchor="ctr" lIns="0" rIns="0" tIns="0" bIns="0">
            <a:spAutoFit/>
          </a:bodyPr>
          <a:lstStyle/>
          <a:p>
            <a:pPr algn="r"/>
            <a:r>
              <a:rPr sz="1000" b="0" i="0">
                <a:solidFill>
                  <a:srgbClr val="6B7585"/>
                </a:solidFill>
                <a:latin typeface="Calibri"/>
              </a:rPr>
              <a:t>13</a:t>
            </a:r>
          </a:p>
        </p:txBody>
      </p:sp>
      <p:sp>
        <p:nvSpPr>
          <p:cNvPr id="7" name="TextBox 6"/>
          <p:cNvSpPr txBox="1"/>
          <p:nvPr/>
        </p:nvSpPr>
        <p:spPr>
          <a:xfrm>
            <a:off x="640080" y="1600200"/>
            <a:ext cx="10911535" cy="4572000"/>
          </a:xfrm>
          <a:prstGeom prst="rect">
            <a:avLst/>
          </a:prstGeom>
          <a:noFill/>
        </p:spPr>
        <p:txBody>
          <a:bodyPr wrap="square" anchor="t" lIns="0" rIns="0" tIns="0" bIns="0">
            <a:spAutoFit/>
          </a:bodyPr>
          <a:lstStyle/>
          <a:p>
            <a:pPr algn="l" marL="320040" indent="-320040">
              <a:lnSpc>
                <a:spcPct val="108000"/>
              </a:lnSpc>
              <a:spcAft>
                <a:spcPts val="1430"/>
              </a:spcAft>
              <a:buClr>
                <a:srgbClr val="1B9AAA"/>
              </a:buClr>
              <a:buChar char="•"/>
            </a:pPr>
            <a:r>
              <a:rPr sz="2600" b="0" i="0">
                <a:solidFill>
                  <a:srgbClr val="222B3A"/>
                </a:solidFill>
                <a:latin typeface="Calibri"/>
              </a:rPr>
              <a:t>89 to 91%: Accuracy of the stacking classifier in predicting sarcoma subtypes.</a:t>
            </a:r>
          </a:p>
          <a:p>
            <a:pPr algn="l" marL="320040" indent="-320040">
              <a:lnSpc>
                <a:spcPct val="108000"/>
              </a:lnSpc>
              <a:spcAft>
                <a:spcPts val="1430"/>
              </a:spcAft>
              <a:buClr>
                <a:srgbClr val="1B9AAA"/>
              </a:buClr>
              <a:buChar char="•"/>
            </a:pPr>
            <a:r>
              <a:rPr sz="2600" b="0" i="0">
                <a:solidFill>
                  <a:srgbClr val="222B3A"/>
                </a:solidFill>
                <a:latin typeface="Calibri"/>
              </a:rPr>
              <a:t>50% mark: Performance scores of Naive Bayes, AdaBoost, and QDA models.</a:t>
            </a:r>
          </a:p>
          <a:p>
            <a:pPr algn="l" marL="320040" indent="-320040">
              <a:lnSpc>
                <a:spcPct val="108000"/>
              </a:lnSpc>
              <a:spcAft>
                <a:spcPts val="1430"/>
              </a:spcAft>
              <a:buClr>
                <a:srgbClr val="1B9AAA"/>
              </a:buClr>
              <a:buChar char="•"/>
            </a:pPr>
            <a:r>
              <a:rPr sz="2600" b="0" i="0">
                <a:solidFill>
                  <a:srgbClr val="222B3A"/>
                </a:solidFill>
                <a:latin typeface="Calibri"/>
              </a:rPr>
              <a:t>801 samples: Dataset used in the study, consisting of four cancer types.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11535" cy="777240"/>
          </a:xfrm>
          <a:prstGeom prst="rect">
            <a:avLst/>
          </a:prstGeom>
          <a:noFill/>
        </p:spPr>
        <p:txBody>
          <a:bodyPr wrap="square" anchor="ctr" lIns="0" rIns="0" tIns="0" bIns="0">
            <a:spAutoFit/>
          </a:bodyPr>
          <a:lstStyle/>
          <a:p>
            <a:r>
              <a:rPr sz="2800" b="1" i="0">
                <a:solidFill>
                  <a:srgbClr val="14213D"/>
                </a:solidFill>
                <a:latin typeface="Calibri"/>
              </a:rPr>
              <a:t>Confusion Matrix for Light Gradient-Boosting Machine</a:t>
            </a:r>
          </a:p>
        </p:txBody>
      </p:sp>
      <p:sp>
        <p:nvSpPr>
          <p:cNvPr id="4" name="Rectangle 3"/>
          <p:cNvSpPr/>
          <p:nvPr/>
        </p:nvSpPr>
        <p:spPr>
          <a:xfrm>
            <a:off x="640080" y="1261872"/>
            <a:ext cx="822960" cy="54864"/>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6400800"/>
            <a:ext cx="8229600" cy="274320"/>
          </a:xfrm>
          <a:prstGeom prst="rect">
            <a:avLst/>
          </a:prstGeom>
          <a:noFill/>
        </p:spPr>
        <p:txBody>
          <a:bodyPr wrap="square" anchor="ctr" lIns="0" rIns="0" tIns="0" bIns="0">
            <a:spAutoFit/>
          </a:bodyPr>
          <a:lstStyle/>
          <a:p>
            <a:r>
              <a:rPr sz="1000" b="0" i="0">
                <a:solidFill>
                  <a:srgbClr val="6B7585"/>
                </a:solidFill>
                <a:latin typeface="Calibri"/>
              </a:rPr>
              <a:t>Classification of Sarcoma Based on Genomic Data Using Machine Learning Models</a:t>
            </a:r>
          </a:p>
        </p:txBody>
      </p:sp>
      <p:sp>
        <p:nvSpPr>
          <p:cNvPr id="6" name="TextBox 5"/>
          <p:cNvSpPr txBox="1"/>
          <p:nvPr/>
        </p:nvSpPr>
        <p:spPr>
          <a:xfrm>
            <a:off x="10637215" y="6400800"/>
            <a:ext cx="914400" cy="274320"/>
          </a:xfrm>
          <a:prstGeom prst="rect">
            <a:avLst/>
          </a:prstGeom>
          <a:noFill/>
        </p:spPr>
        <p:txBody>
          <a:bodyPr wrap="square" anchor="ctr" lIns="0" rIns="0" tIns="0" bIns="0">
            <a:spAutoFit/>
          </a:bodyPr>
          <a:lstStyle/>
          <a:p>
            <a:pPr algn="r"/>
            <a:r>
              <a:rPr sz="1000" b="0" i="0">
                <a:solidFill>
                  <a:srgbClr val="6B7585"/>
                </a:solidFill>
                <a:latin typeface="Calibri"/>
              </a:rPr>
              <a:t>14</a:t>
            </a:r>
          </a:p>
        </p:txBody>
      </p:sp>
      <p:sp>
        <p:nvSpPr>
          <p:cNvPr id="7" name="Rectangle 6"/>
          <p:cNvSpPr/>
          <p:nvPr/>
        </p:nvSpPr>
        <p:spPr>
          <a:xfrm>
            <a:off x="640080" y="1508760"/>
            <a:ext cx="10911535" cy="4325112"/>
          </a:xfrm>
          <a:prstGeom prst="rect">
            <a:avLst/>
          </a:prstGeom>
          <a:solidFill>
            <a:srgbClr val="F3F5F8"/>
          </a:solidFill>
          <a:ln w="9525">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page10_img2.jpeg"/>
          <p:cNvPicPr>
            <a:picLocks noChangeAspect="1"/>
          </p:cNvPicPr>
          <p:nvPr/>
        </p:nvPicPr>
        <p:blipFill>
          <a:blip r:embed="rId2"/>
          <a:stretch>
            <a:fillRect/>
          </a:stretch>
        </p:blipFill>
        <p:spPr>
          <a:xfrm>
            <a:off x="3444203" y="1645919"/>
            <a:ext cx="5303287" cy="4050791"/>
          </a:xfrm>
          <a:prstGeom prst="rect">
            <a:avLst/>
          </a:prstGeom>
        </p:spPr>
      </p:pic>
      <p:sp>
        <p:nvSpPr>
          <p:cNvPr id="9" name="TextBox 8"/>
          <p:cNvSpPr txBox="1"/>
          <p:nvPr/>
        </p:nvSpPr>
        <p:spPr>
          <a:xfrm>
            <a:off x="640080" y="5907023"/>
            <a:ext cx="10911535" cy="265176"/>
          </a:xfrm>
          <a:prstGeom prst="rect">
            <a:avLst/>
          </a:prstGeom>
          <a:noFill/>
        </p:spPr>
        <p:txBody>
          <a:bodyPr wrap="square" anchor="t" lIns="0" rIns="0" tIns="0" bIns="0">
            <a:spAutoFit/>
          </a:bodyPr>
          <a:lstStyle/>
          <a:p>
            <a:r>
              <a:rPr sz="1200" b="0" i="1">
                <a:solidFill>
                  <a:srgbClr val="6B7585"/>
                </a:solidFill>
                <a:latin typeface="Calibri"/>
              </a:rPr>
              <a:t>Fig. 5: Confusion Matrix for Light Gradient-Boosting Machine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11535" cy="777240"/>
          </a:xfrm>
          <a:prstGeom prst="rect">
            <a:avLst/>
          </a:prstGeom>
          <a:noFill/>
        </p:spPr>
        <p:txBody>
          <a:bodyPr wrap="square" anchor="ctr" lIns="0" rIns="0" tIns="0" bIns="0">
            <a:spAutoFit/>
          </a:bodyPr>
          <a:lstStyle/>
          <a:p>
            <a:r>
              <a:rPr sz="3400" b="1" i="0">
                <a:solidFill>
                  <a:srgbClr val="14213D"/>
                </a:solidFill>
                <a:latin typeface="Calibri"/>
              </a:rPr>
              <a:t>Applications</a:t>
            </a:r>
          </a:p>
        </p:txBody>
      </p:sp>
      <p:sp>
        <p:nvSpPr>
          <p:cNvPr id="4" name="Rectangle 3"/>
          <p:cNvSpPr/>
          <p:nvPr/>
        </p:nvSpPr>
        <p:spPr>
          <a:xfrm>
            <a:off x="640080" y="1261872"/>
            <a:ext cx="822960" cy="54864"/>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6400800"/>
            <a:ext cx="8229600" cy="274320"/>
          </a:xfrm>
          <a:prstGeom prst="rect">
            <a:avLst/>
          </a:prstGeom>
          <a:noFill/>
        </p:spPr>
        <p:txBody>
          <a:bodyPr wrap="square" anchor="ctr" lIns="0" rIns="0" tIns="0" bIns="0">
            <a:spAutoFit/>
          </a:bodyPr>
          <a:lstStyle/>
          <a:p>
            <a:r>
              <a:rPr sz="1000" b="0" i="0">
                <a:solidFill>
                  <a:srgbClr val="6B7585"/>
                </a:solidFill>
                <a:latin typeface="Calibri"/>
              </a:rPr>
              <a:t>Classification of Sarcoma Based on Genomic Data Using Machine Learning Models</a:t>
            </a:r>
          </a:p>
        </p:txBody>
      </p:sp>
      <p:sp>
        <p:nvSpPr>
          <p:cNvPr id="6" name="TextBox 5"/>
          <p:cNvSpPr txBox="1"/>
          <p:nvPr/>
        </p:nvSpPr>
        <p:spPr>
          <a:xfrm>
            <a:off x="10637215" y="6400800"/>
            <a:ext cx="914400" cy="274320"/>
          </a:xfrm>
          <a:prstGeom prst="rect">
            <a:avLst/>
          </a:prstGeom>
          <a:noFill/>
        </p:spPr>
        <p:txBody>
          <a:bodyPr wrap="square" anchor="ctr" lIns="0" rIns="0" tIns="0" bIns="0">
            <a:spAutoFit/>
          </a:bodyPr>
          <a:lstStyle/>
          <a:p>
            <a:pPr algn="r"/>
            <a:r>
              <a:rPr sz="1000" b="0" i="0">
                <a:solidFill>
                  <a:srgbClr val="6B7585"/>
                </a:solidFill>
                <a:latin typeface="Calibri"/>
              </a:rPr>
              <a:t>15</a:t>
            </a:r>
          </a:p>
        </p:txBody>
      </p:sp>
      <p:sp>
        <p:nvSpPr>
          <p:cNvPr id="7" name="TextBox 6"/>
          <p:cNvSpPr txBox="1"/>
          <p:nvPr/>
        </p:nvSpPr>
        <p:spPr>
          <a:xfrm>
            <a:off x="640080" y="1600200"/>
            <a:ext cx="10911535" cy="4572000"/>
          </a:xfrm>
          <a:prstGeom prst="rect">
            <a:avLst/>
          </a:prstGeom>
          <a:noFill/>
        </p:spPr>
        <p:txBody>
          <a:bodyPr wrap="square" anchor="t" lIns="0" rIns="0" tIns="0" bIns="0">
            <a:spAutoFit/>
          </a:bodyPr>
          <a:lstStyle/>
          <a:p>
            <a:pPr algn="l" marL="320040" indent="-320040">
              <a:lnSpc>
                <a:spcPct val="108000"/>
              </a:lnSpc>
              <a:spcAft>
                <a:spcPts val="1430"/>
              </a:spcAft>
              <a:buClr>
                <a:srgbClr val="1B9AAA"/>
              </a:buClr>
              <a:buChar char="•"/>
            </a:pPr>
            <a:r>
              <a:rPr sz="2600" b="0" i="0">
                <a:solidFill>
                  <a:srgbClr val="222B3A"/>
                </a:solidFill>
                <a:latin typeface="Calibri"/>
              </a:rPr>
              <a:t>Machine learning models can be incorporated into clinical workflows for sarcoma diagnosis.</a:t>
            </a:r>
          </a:p>
          <a:p>
            <a:pPr algn="l" marL="320040" indent="-320040">
              <a:lnSpc>
                <a:spcPct val="108000"/>
              </a:lnSpc>
              <a:spcAft>
                <a:spcPts val="1430"/>
              </a:spcAft>
              <a:buClr>
                <a:srgbClr val="1B9AAA"/>
              </a:buClr>
              <a:buChar char="•"/>
            </a:pPr>
            <a:r>
              <a:rPr sz="2600" b="0" i="0">
                <a:solidFill>
                  <a:srgbClr val="222B3A"/>
                </a:solidFill>
                <a:latin typeface="Calibri"/>
              </a:rPr>
              <a:t>Precision medicine powered by genomics can be applied in the treatment of sarcoma.</a:t>
            </a:r>
          </a:p>
          <a:p>
            <a:pPr algn="l" marL="320040" indent="-320040">
              <a:lnSpc>
                <a:spcPct val="108000"/>
              </a:lnSpc>
              <a:spcAft>
                <a:spcPts val="1430"/>
              </a:spcAft>
              <a:buClr>
                <a:srgbClr val="1B9AAA"/>
              </a:buClr>
              <a:buChar char="•"/>
            </a:pPr>
            <a:r>
              <a:rPr sz="2600" b="0" i="0">
                <a:solidFill>
                  <a:srgbClr val="222B3A"/>
                </a:solidFill>
                <a:latin typeface="Calibri"/>
              </a:rPr>
              <a:t>A unified solution for cancer classification based on genomic profiles can be developed for Pan-Cancer applications.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11535" cy="777240"/>
          </a:xfrm>
          <a:prstGeom prst="rect">
            <a:avLst/>
          </a:prstGeom>
          <a:noFill/>
        </p:spPr>
        <p:txBody>
          <a:bodyPr wrap="square" anchor="ctr" lIns="0" rIns="0" tIns="0" bIns="0">
            <a:spAutoFit/>
          </a:bodyPr>
          <a:lstStyle/>
          <a:p>
            <a:r>
              <a:rPr sz="3400" b="1" i="0">
                <a:solidFill>
                  <a:srgbClr val="14213D"/>
                </a:solidFill>
                <a:latin typeface="Calibri"/>
              </a:rPr>
              <a:t>Challenges &amp; Limitations</a:t>
            </a:r>
          </a:p>
        </p:txBody>
      </p:sp>
      <p:sp>
        <p:nvSpPr>
          <p:cNvPr id="4" name="Rectangle 3"/>
          <p:cNvSpPr/>
          <p:nvPr/>
        </p:nvSpPr>
        <p:spPr>
          <a:xfrm>
            <a:off x="640080" y="1261872"/>
            <a:ext cx="822960" cy="54864"/>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6400800"/>
            <a:ext cx="8229600" cy="274320"/>
          </a:xfrm>
          <a:prstGeom prst="rect">
            <a:avLst/>
          </a:prstGeom>
          <a:noFill/>
        </p:spPr>
        <p:txBody>
          <a:bodyPr wrap="square" anchor="ctr" lIns="0" rIns="0" tIns="0" bIns="0">
            <a:spAutoFit/>
          </a:bodyPr>
          <a:lstStyle/>
          <a:p>
            <a:r>
              <a:rPr sz="1000" b="0" i="0">
                <a:solidFill>
                  <a:srgbClr val="6B7585"/>
                </a:solidFill>
                <a:latin typeface="Calibri"/>
              </a:rPr>
              <a:t>Classification of Sarcoma Based on Genomic Data Using Machine Learning Models</a:t>
            </a:r>
          </a:p>
        </p:txBody>
      </p:sp>
      <p:sp>
        <p:nvSpPr>
          <p:cNvPr id="6" name="TextBox 5"/>
          <p:cNvSpPr txBox="1"/>
          <p:nvPr/>
        </p:nvSpPr>
        <p:spPr>
          <a:xfrm>
            <a:off x="10637215" y="6400800"/>
            <a:ext cx="914400" cy="274320"/>
          </a:xfrm>
          <a:prstGeom prst="rect">
            <a:avLst/>
          </a:prstGeom>
          <a:noFill/>
        </p:spPr>
        <p:txBody>
          <a:bodyPr wrap="square" anchor="ctr" lIns="0" rIns="0" tIns="0" bIns="0">
            <a:spAutoFit/>
          </a:bodyPr>
          <a:lstStyle/>
          <a:p>
            <a:pPr algn="r"/>
            <a:r>
              <a:rPr sz="1000" b="0" i="0">
                <a:solidFill>
                  <a:srgbClr val="6B7585"/>
                </a:solidFill>
                <a:latin typeface="Calibri"/>
              </a:rPr>
              <a:t>16</a:t>
            </a:r>
          </a:p>
        </p:txBody>
      </p:sp>
      <p:sp>
        <p:nvSpPr>
          <p:cNvPr id="7" name="TextBox 6"/>
          <p:cNvSpPr txBox="1"/>
          <p:nvPr/>
        </p:nvSpPr>
        <p:spPr>
          <a:xfrm>
            <a:off x="640080" y="1600200"/>
            <a:ext cx="10911535" cy="4572000"/>
          </a:xfrm>
          <a:prstGeom prst="rect">
            <a:avLst/>
          </a:prstGeom>
          <a:noFill/>
        </p:spPr>
        <p:txBody>
          <a:bodyPr wrap="square" anchor="t" lIns="0" rIns="0" tIns="0" bIns="0">
            <a:spAutoFit/>
          </a:bodyPr>
          <a:lstStyle/>
          <a:p>
            <a:pPr algn="l" marL="320040" indent="-320040">
              <a:lnSpc>
                <a:spcPct val="108000"/>
              </a:lnSpc>
              <a:spcAft>
                <a:spcPts val="1430"/>
              </a:spcAft>
              <a:buClr>
                <a:srgbClr val="1B9AAA"/>
              </a:buClr>
              <a:buChar char="•"/>
            </a:pPr>
            <a:r>
              <a:rPr sz="2600" b="0" i="0">
                <a:solidFill>
                  <a:srgbClr val="222B3A"/>
                </a:solidFill>
                <a:latin typeface="Calibri"/>
              </a:rPr>
              <a:t>Challenges in managing high-dimensional genomic data and selecting relevant features consistently.</a:t>
            </a:r>
          </a:p>
          <a:p>
            <a:pPr algn="l" marL="320040" indent="-320040">
              <a:lnSpc>
                <a:spcPct val="108000"/>
              </a:lnSpc>
              <a:spcAft>
                <a:spcPts val="1430"/>
              </a:spcAft>
              <a:buClr>
                <a:srgbClr val="1B9AAA"/>
              </a:buClr>
              <a:buChar char="•"/>
            </a:pPr>
            <a:r>
              <a:rPr sz="2600" b="0" i="0">
                <a:solidFill>
                  <a:srgbClr val="222B3A"/>
                </a:solidFill>
                <a:latin typeface="Calibri"/>
              </a:rPr>
              <a:t>Risk of models performing well on training data but poorly on unseen data, especially with limited sample sizes.</a:t>
            </a:r>
          </a:p>
          <a:p>
            <a:pPr algn="l" marL="320040" indent="-320040">
              <a:lnSpc>
                <a:spcPct val="108000"/>
              </a:lnSpc>
              <a:spcAft>
                <a:spcPts val="1430"/>
              </a:spcAft>
              <a:buClr>
                <a:srgbClr val="1B9AAA"/>
              </a:buClr>
              <a:buChar char="•"/>
            </a:pPr>
            <a:r>
              <a:rPr sz="2600" b="0" i="0">
                <a:solidFill>
                  <a:srgbClr val="222B3A"/>
                </a:solidFill>
                <a:latin typeface="Calibri"/>
              </a:rPr>
              <a:t>Inconsistent model building procedures and evaluation metrics across studies, hindering reproducibility.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11535" cy="777240"/>
          </a:xfrm>
          <a:prstGeom prst="rect">
            <a:avLst/>
          </a:prstGeom>
          <a:noFill/>
        </p:spPr>
        <p:txBody>
          <a:bodyPr wrap="square" anchor="ctr" lIns="0" rIns="0" tIns="0" bIns="0">
            <a:spAutoFit/>
          </a:bodyPr>
          <a:lstStyle/>
          <a:p>
            <a:r>
              <a:rPr sz="3400" b="1" i="0">
                <a:solidFill>
                  <a:srgbClr val="14213D"/>
                </a:solidFill>
                <a:latin typeface="Calibri"/>
              </a:rPr>
              <a:t>Future Scope</a:t>
            </a:r>
          </a:p>
        </p:txBody>
      </p:sp>
      <p:sp>
        <p:nvSpPr>
          <p:cNvPr id="4" name="Rectangle 3"/>
          <p:cNvSpPr/>
          <p:nvPr/>
        </p:nvSpPr>
        <p:spPr>
          <a:xfrm>
            <a:off x="640080" y="1261872"/>
            <a:ext cx="822960" cy="54864"/>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6400800"/>
            <a:ext cx="8229600" cy="274320"/>
          </a:xfrm>
          <a:prstGeom prst="rect">
            <a:avLst/>
          </a:prstGeom>
          <a:noFill/>
        </p:spPr>
        <p:txBody>
          <a:bodyPr wrap="square" anchor="ctr" lIns="0" rIns="0" tIns="0" bIns="0">
            <a:spAutoFit/>
          </a:bodyPr>
          <a:lstStyle/>
          <a:p>
            <a:r>
              <a:rPr sz="1000" b="0" i="0">
                <a:solidFill>
                  <a:srgbClr val="6B7585"/>
                </a:solidFill>
                <a:latin typeface="Calibri"/>
              </a:rPr>
              <a:t>Classification of Sarcoma Based on Genomic Data Using Machine Learning Models</a:t>
            </a:r>
          </a:p>
        </p:txBody>
      </p:sp>
      <p:sp>
        <p:nvSpPr>
          <p:cNvPr id="6" name="TextBox 5"/>
          <p:cNvSpPr txBox="1"/>
          <p:nvPr/>
        </p:nvSpPr>
        <p:spPr>
          <a:xfrm>
            <a:off x="10637215" y="6400800"/>
            <a:ext cx="914400" cy="274320"/>
          </a:xfrm>
          <a:prstGeom prst="rect">
            <a:avLst/>
          </a:prstGeom>
          <a:noFill/>
        </p:spPr>
        <p:txBody>
          <a:bodyPr wrap="square" anchor="ctr" lIns="0" rIns="0" tIns="0" bIns="0">
            <a:spAutoFit/>
          </a:bodyPr>
          <a:lstStyle/>
          <a:p>
            <a:pPr algn="r"/>
            <a:r>
              <a:rPr sz="1000" b="0" i="0">
                <a:solidFill>
                  <a:srgbClr val="6B7585"/>
                </a:solidFill>
                <a:latin typeface="Calibri"/>
              </a:rPr>
              <a:t>17</a:t>
            </a:r>
          </a:p>
        </p:txBody>
      </p:sp>
      <p:sp>
        <p:nvSpPr>
          <p:cNvPr id="7" name="TextBox 6"/>
          <p:cNvSpPr txBox="1"/>
          <p:nvPr/>
        </p:nvSpPr>
        <p:spPr>
          <a:xfrm>
            <a:off x="640080" y="1600200"/>
            <a:ext cx="10911535" cy="4572000"/>
          </a:xfrm>
          <a:prstGeom prst="rect">
            <a:avLst/>
          </a:prstGeom>
          <a:noFill/>
        </p:spPr>
        <p:txBody>
          <a:bodyPr wrap="square" anchor="t" lIns="0" rIns="0" tIns="0" bIns="0">
            <a:spAutoFit/>
          </a:bodyPr>
          <a:lstStyle/>
          <a:p>
            <a:pPr algn="l" marL="320040" indent="-320040">
              <a:lnSpc>
                <a:spcPct val="108000"/>
              </a:lnSpc>
              <a:spcAft>
                <a:spcPts val="1430"/>
              </a:spcAft>
              <a:buClr>
                <a:srgbClr val="1B9AAA"/>
              </a:buClr>
              <a:buChar char="•"/>
            </a:pPr>
            <a:r>
              <a:rPr sz="2600" b="0" i="0">
                <a:solidFill>
                  <a:srgbClr val="222B3A"/>
                </a:solidFill>
                <a:latin typeface="Calibri"/>
              </a:rPr>
              <a:t>External validation will test the models' generalizability against independent datasets from various clinical settings.</a:t>
            </a:r>
          </a:p>
          <a:p>
            <a:pPr algn="l" marL="320040" indent="-320040">
              <a:lnSpc>
                <a:spcPct val="108000"/>
              </a:lnSpc>
              <a:spcAft>
                <a:spcPts val="1430"/>
              </a:spcAft>
              <a:buClr>
                <a:srgbClr val="1B9AAA"/>
              </a:buClr>
              <a:buChar char="•"/>
            </a:pPr>
            <a:r>
              <a:rPr sz="2600" b="0" i="0">
                <a:solidFill>
                  <a:srgbClr val="222B3A"/>
                </a:solidFill>
                <a:latin typeface="Calibri"/>
              </a:rPr>
              <a:t>The approach will be refined to better identify and classify rare sarcoma subtypes.</a:t>
            </a:r>
          </a:p>
          <a:p>
            <a:pPr algn="l" marL="320040" indent="-320040">
              <a:lnSpc>
                <a:spcPct val="108000"/>
              </a:lnSpc>
              <a:spcAft>
                <a:spcPts val="1430"/>
              </a:spcAft>
              <a:buClr>
                <a:srgbClr val="1B9AAA"/>
              </a:buClr>
              <a:buChar char="•"/>
            </a:pPr>
            <a:r>
              <a:rPr sz="2600" b="0" i="0">
                <a:solidFill>
                  <a:srgbClr val="222B3A"/>
                </a:solidFill>
                <a:latin typeface="Calibri"/>
              </a:rPr>
              <a:t>Further research in Pan-Cancer applications will help develop a unified solution for cancer classification based on genomic profiles.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11535" cy="777240"/>
          </a:xfrm>
          <a:prstGeom prst="rect">
            <a:avLst/>
          </a:prstGeom>
          <a:noFill/>
        </p:spPr>
        <p:txBody>
          <a:bodyPr wrap="square" anchor="ctr" lIns="0" rIns="0" tIns="0" bIns="0">
            <a:spAutoFit/>
          </a:bodyPr>
          <a:lstStyle/>
          <a:p>
            <a:r>
              <a:rPr sz="3400" b="1" i="0">
                <a:solidFill>
                  <a:srgbClr val="14213D"/>
                </a:solidFill>
                <a:latin typeface="Calibri"/>
              </a:rPr>
              <a:t>Conclusion</a:t>
            </a:r>
          </a:p>
        </p:txBody>
      </p:sp>
      <p:sp>
        <p:nvSpPr>
          <p:cNvPr id="4" name="Rectangle 3"/>
          <p:cNvSpPr/>
          <p:nvPr/>
        </p:nvSpPr>
        <p:spPr>
          <a:xfrm>
            <a:off x="640080" y="1261872"/>
            <a:ext cx="822960" cy="54864"/>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6400800"/>
            <a:ext cx="8229600" cy="274320"/>
          </a:xfrm>
          <a:prstGeom prst="rect">
            <a:avLst/>
          </a:prstGeom>
          <a:noFill/>
        </p:spPr>
        <p:txBody>
          <a:bodyPr wrap="square" anchor="ctr" lIns="0" rIns="0" tIns="0" bIns="0">
            <a:spAutoFit/>
          </a:bodyPr>
          <a:lstStyle/>
          <a:p>
            <a:r>
              <a:rPr sz="1000" b="0" i="0">
                <a:solidFill>
                  <a:srgbClr val="6B7585"/>
                </a:solidFill>
                <a:latin typeface="Calibri"/>
              </a:rPr>
              <a:t>Classification of Sarcoma Based on Genomic Data Using Machine Learning Models</a:t>
            </a:r>
          </a:p>
        </p:txBody>
      </p:sp>
      <p:sp>
        <p:nvSpPr>
          <p:cNvPr id="6" name="TextBox 5"/>
          <p:cNvSpPr txBox="1"/>
          <p:nvPr/>
        </p:nvSpPr>
        <p:spPr>
          <a:xfrm>
            <a:off x="10637215" y="6400800"/>
            <a:ext cx="914400" cy="274320"/>
          </a:xfrm>
          <a:prstGeom prst="rect">
            <a:avLst/>
          </a:prstGeom>
          <a:noFill/>
        </p:spPr>
        <p:txBody>
          <a:bodyPr wrap="square" anchor="ctr" lIns="0" rIns="0" tIns="0" bIns="0">
            <a:spAutoFit/>
          </a:bodyPr>
          <a:lstStyle/>
          <a:p>
            <a:pPr algn="r"/>
            <a:r>
              <a:rPr sz="1000" b="0" i="0">
                <a:solidFill>
                  <a:srgbClr val="6B7585"/>
                </a:solidFill>
                <a:latin typeface="Calibri"/>
              </a:rPr>
              <a:t>18</a:t>
            </a:r>
          </a:p>
        </p:txBody>
      </p:sp>
      <p:sp>
        <p:nvSpPr>
          <p:cNvPr id="7" name="TextBox 6"/>
          <p:cNvSpPr txBox="1"/>
          <p:nvPr/>
        </p:nvSpPr>
        <p:spPr>
          <a:xfrm>
            <a:off x="640080" y="1600200"/>
            <a:ext cx="10911535" cy="4572000"/>
          </a:xfrm>
          <a:prstGeom prst="rect">
            <a:avLst/>
          </a:prstGeom>
          <a:noFill/>
        </p:spPr>
        <p:txBody>
          <a:bodyPr wrap="square" anchor="t" lIns="0" rIns="0" tIns="0" bIns="0">
            <a:spAutoFit/>
          </a:bodyPr>
          <a:lstStyle/>
          <a:p>
            <a:pPr algn="l" marL="320040" indent="-320040">
              <a:lnSpc>
                <a:spcPct val="108000"/>
              </a:lnSpc>
              <a:spcAft>
                <a:spcPts val="1430"/>
              </a:spcAft>
              <a:buClr>
                <a:srgbClr val="1B9AAA"/>
              </a:buClr>
              <a:buChar char="•"/>
            </a:pPr>
            <a:r>
              <a:rPr sz="2600" b="0" i="0">
                <a:solidFill>
                  <a:srgbClr val="222B3A"/>
                </a:solidFill>
                <a:latin typeface="Calibri"/>
              </a:rPr>
              <a:t>The proposed model achieved the highest overall accuracy in sarcoma classification.</a:t>
            </a:r>
          </a:p>
          <a:p>
            <a:pPr algn="l" marL="320040" indent="-320040">
              <a:lnSpc>
                <a:spcPct val="108000"/>
              </a:lnSpc>
              <a:spcAft>
                <a:spcPts val="1430"/>
              </a:spcAft>
              <a:buClr>
                <a:srgbClr val="1B9AAA"/>
              </a:buClr>
              <a:buChar char="•"/>
            </a:pPr>
            <a:r>
              <a:rPr sz="2600" b="0" i="0">
                <a:solidFill>
                  <a:srgbClr val="222B3A"/>
                </a:solidFill>
                <a:latin typeface="Calibri"/>
              </a:rPr>
              <a:t>The Stacking Classifier outperformed individual models in handling class imbalance.</a:t>
            </a:r>
          </a:p>
          <a:p>
            <a:pPr algn="l" marL="320040" indent="-320040">
              <a:lnSpc>
                <a:spcPct val="108000"/>
              </a:lnSpc>
              <a:spcAft>
                <a:spcPts val="1430"/>
              </a:spcAft>
              <a:buClr>
                <a:srgbClr val="1B9AAA"/>
              </a:buClr>
              <a:buChar char="•"/>
            </a:pPr>
            <a:r>
              <a:rPr sz="2600" b="0" i="0">
                <a:solidFill>
                  <a:srgbClr val="222B3A"/>
                </a:solidFill>
                <a:latin typeface="Calibri"/>
              </a:rPr>
              <a:t>The model's success demonstrates the effectiveness of computational methods in genomic data analysis.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4213D"/>
        </a:solidFill>
        <a:effectLst/>
      </p:bgPr>
    </p:bg>
    <p:spTree>
      <p:nvGrpSpPr>
        <p:cNvPr id="1" name=""/>
        <p:cNvGrpSpPr/>
        <p:nvPr/>
      </p:nvGrpSpPr>
      <p:grpSpPr/>
      <p:sp>
        <p:nvSpPr>
          <p:cNvPr id="2" name="Rectangle 1"/>
          <p:cNvSpPr/>
          <p:nvPr/>
        </p:nvSpPr>
        <p:spPr>
          <a:xfrm>
            <a:off x="640080" y="2651760"/>
            <a:ext cx="1005840" cy="73152"/>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880360"/>
            <a:ext cx="10911535" cy="1097280"/>
          </a:xfrm>
          <a:prstGeom prst="rect">
            <a:avLst/>
          </a:prstGeom>
          <a:noFill/>
        </p:spPr>
        <p:txBody>
          <a:bodyPr wrap="square" anchor="t" lIns="0" rIns="0" tIns="0" bIns="0">
            <a:spAutoFit/>
          </a:bodyPr>
          <a:lstStyle/>
          <a:p>
            <a:r>
              <a:rPr sz="4800" b="1" i="0">
                <a:solidFill>
                  <a:srgbClr val="FFFFFF"/>
                </a:solidFill>
                <a:latin typeface="Calibri"/>
              </a:rPr>
              <a:t>Thank you</a:t>
            </a:r>
          </a:p>
        </p:txBody>
      </p:sp>
      <p:sp>
        <p:nvSpPr>
          <p:cNvPr id="4" name="TextBox 3"/>
          <p:cNvSpPr txBox="1"/>
          <p:nvPr/>
        </p:nvSpPr>
        <p:spPr>
          <a:xfrm>
            <a:off x="640080" y="3931920"/>
            <a:ext cx="10911535" cy="548640"/>
          </a:xfrm>
          <a:prstGeom prst="rect">
            <a:avLst/>
          </a:prstGeom>
          <a:noFill/>
        </p:spPr>
        <p:txBody>
          <a:bodyPr wrap="square" anchor="t" lIns="0" rIns="0" tIns="0" bIns="0">
            <a:spAutoFit/>
          </a:bodyPr>
          <a:lstStyle/>
          <a:p>
            <a:r>
              <a:rPr sz="2200" b="0" i="0">
                <a:solidFill>
                  <a:srgbClr val="B8E3E9"/>
                </a:solidFill>
                <a:latin typeface="Calibri"/>
              </a:rPr>
              <a:t>Questions &amp; discussion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Classification of Sarcoma Based on Genomic Data Using Machine Learning Models</dc:title>
  <dc:subject>Automated summary of Sarcoma.pdf</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